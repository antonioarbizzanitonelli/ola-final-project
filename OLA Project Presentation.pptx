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81438" autoAdjust="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31" d="100"/>
          <a:sy n="31" d="100"/>
        </p:scale>
        <p:origin x="2698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86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51046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ONLINE LEARNING APPLICATIONS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020800" y="762000"/>
            <a:ext cx="364617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PRESENTATION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52500" y="3138488"/>
            <a:ext cx="838200" cy="76200"/>
          </a:xfrm>
          <a:prstGeom prst="rect">
            <a:avLst/>
          </a:prstGeom>
          <a:solidFill>
            <a:srgbClr val="C65D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52500" y="3557588"/>
            <a:ext cx="13735050" cy="1958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75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Budget-Constrained Online Bidding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952500" y="5820728"/>
            <a:ext cx="12263438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Learning to bid in first-price auctions under a shared budget — from a single stochastic campaign to non-stationary multi-campaign settings.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499" y="8839200"/>
            <a:ext cx="13735049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 members: </a:t>
            </a:r>
            <a:r>
              <a:rPr lang="en-US" sz="2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Arbizzani Tonelli Antonio, Arisi Leonardo, Berra Claudia, Di Paolo Gaia.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9265920"/>
            <a:ext cx="759893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Requirements 1 – 4 · lab-aligned baselines and targeted extensions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101060" y="9265920"/>
            <a:ext cx="135788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Problem Setting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83970" y="2636520"/>
            <a:ext cx="50822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First-price auction, each round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70" y="3158490"/>
            <a:ext cx="3104079" cy="39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3970" y="3744516"/>
            <a:ext cx="4758827" cy="765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</a:t>
            </a:r>
            <a:r>
              <a:rPr lang="en-US" sz="1500" baseline="-400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i,t 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highest competing bid for campaign </a:t>
            </a:r>
            <a:r>
              <a:rPr lang="en-US" sz="1800" dirty="0" err="1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— the only uncertainty in the auction.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502361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833831" y="2636520"/>
            <a:ext cx="50822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Utility and cost on a win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831" y="3158490"/>
            <a:ext cx="3396139" cy="396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33831" y="3744516"/>
            <a:ext cx="47588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Higher bids win more often but earn less per win and spend more budget.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2052221" y="2324100"/>
            <a:ext cx="5283161" cy="2460546"/>
          </a:xfrm>
          <a:prstGeom prst="roundRect">
            <a:avLst>
              <a:gd name="adj" fmla="val 464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12383691" y="2636520"/>
            <a:ext cx="508224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Global budget constraint</a:t>
            </a:r>
            <a:endParaRPr lang="en-US" sz="2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3691" y="3158490"/>
            <a:ext cx="3445431" cy="396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83691" y="3746540"/>
            <a:ext cx="47588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ρ is the per-round spend rate every learner has to respect on average.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52500" y="5089446"/>
            <a:ext cx="16383000" cy="134874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1283970" y="5615226"/>
            <a:ext cx="2405634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CONFLICT GRAPH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952500" y="9189720"/>
            <a:ext cx="336078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Across the four requirements: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4198263" y="9113520"/>
            <a:ext cx="235077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4350663" y="9189720"/>
            <a:ext cx="212217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→ 4 campaigns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739533" y="9113520"/>
            <a:ext cx="39966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891933" y="9189720"/>
            <a:ext cx="381179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stochastic → non-stationary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10926723" y="9113520"/>
            <a:ext cx="39966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11079123" y="9189720"/>
            <a:ext cx="381179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semi-bandit → full feedback</a:t>
            </a:r>
            <a:endParaRPr lang="en-US" sz="18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FA105F2F-00F4-3BA8-08D6-50D29050B1B4}"/>
              </a:ext>
            </a:extLst>
          </p:cNvPr>
          <p:cNvSpPr/>
          <p:nvPr/>
        </p:nvSpPr>
        <p:spPr>
          <a:xfrm>
            <a:off x="3775710" y="5305425"/>
            <a:ext cx="13625170" cy="942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campaigns are incompatible: connected campaigns cannot both bid in the same round. With multiple campaigns the action becomes a </a:t>
            </a:r>
            <a:r>
              <a:rPr lang="en-US" sz="20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super-action</a:t>
            </a:r>
            <a:r>
              <a:rPr lang="en-US" sz="20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a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feasible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combination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of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bids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, one for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each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campaign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,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selected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at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000" dirty="0" err="1">
                <a:solidFill>
                  <a:srgbClr val="16283C"/>
                </a:solidFill>
                <a:latin typeface="IBM Plex Sans" pitchFamily="34" charset="0"/>
              </a:rPr>
              <a:t>each</a:t>
            </a:r>
            <a:r>
              <a:rPr lang="it-IT" sz="2000" dirty="0">
                <a:solidFill>
                  <a:srgbClr val="16283C"/>
                </a:solidFill>
                <a:latin typeface="IBM Plex Sans" pitchFamily="34" charset="0"/>
              </a:rPr>
              <a:t> round.</a:t>
            </a:r>
            <a:endParaRPr lang="en-US" sz="2000" dirty="0">
              <a:solidFill>
                <a:srgbClr val="16283C"/>
              </a:solidFill>
              <a:latin typeface="IBM Plex Sans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WE WORKED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Method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52500" y="5448300"/>
            <a:ext cx="392430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2400300"/>
            <a:ext cx="3924300" cy="533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5250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86918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245870" y="2739390"/>
            <a:ext cx="36713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5870" y="3188970"/>
            <a:ext cx="367131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Lab-aligned baseline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45870" y="3707130"/>
            <a:ext cx="3437687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Course tools only — UCB, LP over distributions, Hedge, OGD — with the constants seen in the labs.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054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105400" y="5448300"/>
            <a:ext cx="392430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105400" y="2400300"/>
            <a:ext cx="3924300" cy="533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10540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902208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398770" y="2739390"/>
            <a:ext cx="36713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8770" y="3188970"/>
            <a:ext cx="367131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Behavior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398770" y="3707130"/>
            <a:ext cx="3437687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behaviour over time — regret, spend, chosen bids — and locate where the baseline is conservative.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2583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58300" y="5448300"/>
            <a:ext cx="392430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9258300" y="2400300"/>
            <a:ext cx="3924300" cy="53340"/>
          </a:xfrm>
          <a:prstGeom prst="rect">
            <a:avLst/>
          </a:prstGeom>
          <a:solidFill>
            <a:srgbClr val="C65D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25830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1317498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9551670" y="2739390"/>
            <a:ext cx="36713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51670" y="3188970"/>
            <a:ext cx="367131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Targeted extension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551670" y="3707130"/>
            <a:ext cx="3437687" cy="1661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Minimal change aimed at the observed defect. Out-of-course methods are explored and </a:t>
            </a:r>
            <a:r>
              <a:rPr lang="en-US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analyzed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411200" y="2400300"/>
            <a:ext cx="3924300" cy="3055620"/>
          </a:xfrm>
          <a:prstGeom prst="roundRect">
            <a:avLst>
              <a:gd name="adj" fmla="val 374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13411200" y="5448300"/>
            <a:ext cx="392430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3411200" y="2400300"/>
            <a:ext cx="3924300" cy="53340"/>
          </a:xfrm>
          <a:prstGeom prst="rect">
            <a:avLst/>
          </a:prstGeom>
          <a:solidFill>
            <a:srgbClr val="C65D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1341120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17327880" y="2400300"/>
            <a:ext cx="9525" cy="305562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3704570" y="2739390"/>
            <a:ext cx="36713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3704570" y="3188970"/>
            <a:ext cx="3671316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Ablation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3704570" y="3707130"/>
            <a:ext cx="3437687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environment, same seeds, one change at a time — so every gain is attributed to its cause.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2500" y="5989320"/>
            <a:ext cx="16383000" cy="1333500"/>
          </a:xfrm>
          <a:prstGeom prst="roundRect">
            <a:avLst>
              <a:gd name="adj" fmla="val 857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1276350" y="6256020"/>
            <a:ext cx="1620735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comparison is paired: </a:t>
            </a:r>
            <a:r>
              <a:rPr lang="en-US" sz="21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and improved learner run on the same realizations of the environment. Differences in the curves are differences between algorithms, not between random draws.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06400" y="-571500"/>
            <a:ext cx="52806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0" b="1" dirty="0">
                <a:solidFill>
                  <a:srgbClr val="FFFFFF">
                    <a:alpha val="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E8A5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11580"/>
            <a:ext cx="12263438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Campaign, Stochastic Environment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3032760"/>
            <a:ext cx="12263438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required learners: budget-blind UCB1, and a UCB-like learner with the budget constraint handled by a linear program.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391025"/>
            <a:ext cx="158496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50620" y="4512945"/>
            <a:ext cx="126492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= 5000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689860" y="4391025"/>
            <a:ext cx="3194685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887980" y="4512945"/>
            <a:ext cx="2894285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= 125 → ρ = 0.025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036945" y="4391025"/>
            <a:ext cx="143637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235065" y="4512945"/>
            <a:ext cx="111633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 = 0.6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625715" y="4391025"/>
            <a:ext cx="5584507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823835" y="4512945"/>
            <a:ext cx="5355803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uniform competitors → P(win) = b³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3362623" y="4391025"/>
            <a:ext cx="3950018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3560743" y="4512945"/>
            <a:ext cx="367227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discrete bid grid, b ≤ v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84505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86990" y="8763000"/>
            <a:ext cx="1519096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D7E2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Stochastic clairvoyant: LP over bid distributions with true win probabilities, spend ≤ ρ. On this instance it mixes 96.6% on bid 0.4 — expected reward ≈ 0.0126 per round.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1 · LAB-ALIGNED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Baseline: the Two Learners Are Nearly Identical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9782532" cy="73533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7903" b="-7903"/>
          <a:stretch/>
        </p:blipFill>
        <p:spPr>
          <a:xfrm>
            <a:off x="1150620" y="2407920"/>
            <a:ext cx="9386292" cy="6957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77932" y="2209800"/>
            <a:ext cx="3033474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1333202" y="2426970"/>
            <a:ext cx="2775228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40.2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11333202" y="3131820"/>
            <a:ext cx="259913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regret, UCB1 budget-blind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4301907" y="2209800"/>
            <a:ext cx="3033594" cy="1733550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4557177" y="2426970"/>
            <a:ext cx="277535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39.6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14557177" y="3131820"/>
            <a:ext cx="259925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regret, UCB-like + budget LP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077932" y="4171950"/>
            <a:ext cx="6257568" cy="329184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1352252" y="4427220"/>
            <a:ext cx="62798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they coincide?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352252" y="4930140"/>
            <a:ext cx="5880196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Hoeffding intervals stay wide over the whole horizon; the cost LCB is truncated at 0, so the LP constraint is almost never informative.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1352252" y="6145530"/>
            <a:ext cx="5880196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exhaust the budget early — the null bid is played in ≈ ⅓ of the rounds — and reach only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~36%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the clairvoyant reward.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1077932" y="8305800"/>
            <a:ext cx="6257568" cy="1257300"/>
          </a:xfrm>
          <a:prstGeom prst="roundRect">
            <a:avLst>
              <a:gd name="adj" fmla="val 9091"/>
            </a:avLst>
          </a:prstGeom>
          <a:solidFill>
            <a:srgbClr val="F3E7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1344632" y="8534400"/>
            <a:ext cx="591189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bottleneck is </a:t>
            </a: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handling </a:t>
            </a:r>
            <a:r>
              <a:rPr lang="en-US" sz="21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not reward estimation.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1 · EXTENSION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Budgeted KL-UCB — Three Changes to the Learner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5308521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45870" y="2484120"/>
            <a:ext cx="51939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ONE ESTIMATE: WIN PROBABILITY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914650"/>
            <a:ext cx="3121223" cy="3581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5870" y="3417569"/>
            <a:ext cx="4863434" cy="1094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At a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fixed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bid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,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reward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and cost are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both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driven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by the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win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/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loss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outcome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.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We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estimate the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win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probability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directly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and derive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both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 from </a:t>
            </a:r>
            <a:r>
              <a:rPr lang="it-IT" dirty="0" err="1">
                <a:solidFill>
                  <a:srgbClr val="5F6F82"/>
                </a:solidFill>
                <a:latin typeface="IBM Plex Sans" pitchFamily="34" charset="0"/>
              </a:rPr>
              <a:t>it</a:t>
            </a:r>
            <a:r>
              <a:rPr lang="it-IT" dirty="0">
                <a:solidFill>
                  <a:srgbClr val="5F6F82"/>
                </a:solidFill>
                <a:latin typeface="IBM Plex Sans" pitchFamily="34" charset="0"/>
              </a:rPr>
              <a:t>.</a:t>
            </a:r>
            <a:endParaRPr lang="en-US" dirty="0">
              <a:solidFill>
                <a:srgbClr val="5F6F82"/>
              </a:solidFill>
              <a:latin typeface="IBM Plex Sans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89621" y="2209800"/>
            <a:ext cx="5308640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6"/>
          <p:cNvSpPr/>
          <p:nvPr/>
        </p:nvSpPr>
        <p:spPr>
          <a:xfrm>
            <a:off x="6782991" y="248412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KL CONFIDENCE BOUND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782991" y="3417569"/>
            <a:ext cx="4863557" cy="108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5F6F82"/>
                </a:solidFill>
                <a:latin typeface="IBM Plex Sans" pitchFamily="34" charset="0"/>
              </a:rPr>
              <a:t>Replaces Hoeffding’s p̂ + √(log t / 2N) with a KL-based bound, introduced to get tighter confidence estimates.</a:t>
            </a:r>
          </a:p>
        </p:txBody>
      </p:sp>
      <p:sp>
        <p:nvSpPr>
          <p:cNvPr id="12" name="Shape 8"/>
          <p:cNvSpPr/>
          <p:nvPr/>
        </p:nvSpPr>
        <p:spPr>
          <a:xfrm>
            <a:off x="12026860" y="2209800"/>
            <a:ext cx="5308640" cy="2538055"/>
          </a:xfrm>
          <a:prstGeom prst="roundRect">
            <a:avLst>
              <a:gd name="adj" fmla="val 450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12320231" y="248412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AFFORDABILITY FILTER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0231" y="2914650"/>
            <a:ext cx="3272433" cy="3581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20231" y="3417568"/>
            <a:ext cx="4863557" cy="1094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bid enters the LP only if the remaining budget covers it; bid 0 stays as the zero-cost opt-out.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952500" y="6936135"/>
            <a:ext cx="16383000" cy="1737003"/>
          </a:xfrm>
          <a:prstGeom prst="roundRect">
            <a:avLst>
              <a:gd name="adj" fmla="val 500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2"/>
          <p:cNvSpPr/>
          <p:nvPr/>
        </p:nvSpPr>
        <p:spPr>
          <a:xfrm>
            <a:off x="1283970" y="7636937"/>
            <a:ext cx="2061972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WHY KL, HERE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3501391" y="7010509"/>
            <a:ext cx="13682398" cy="1662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Relevant win probabilities are tiny — P(win) = b³ is </a:t>
            </a:r>
            <a:r>
              <a:rPr lang="en-US" sz="21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0.027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b = 0.3, </a:t>
            </a:r>
            <a:r>
              <a:rPr lang="en-US" sz="21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0.064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b = 0.4. Near 0, Hoeffding’s radius √(log t / 2N) is far wider than needed: every p </a:t>
            </a:r>
            <a:r>
              <a:rPr lang="en-US" sz="2100" baseline="-400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UCB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saturates at 1 and the optimistic reward (v−b)·p</a:t>
            </a:r>
            <a:r>
              <a:rPr lang="en-US" sz="2100" baseline="-400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UCB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ranks bids </a:t>
            </a:r>
            <a:r>
              <a:rPr lang="en-US" sz="21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backwards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KL interval exploits the Bernoulli variance vanishing near 0 and tightens exactly where it matters.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952500" y="9189720"/>
            <a:ext cx="134845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Unchanged: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368867" y="9113520"/>
            <a:ext cx="331089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6"/>
          <p:cNvSpPr/>
          <p:nvPr/>
        </p:nvSpPr>
        <p:spPr>
          <a:xfrm>
            <a:off x="2521267" y="9189720"/>
            <a:ext cx="31054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LP, ρ = B/T fixed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870257" y="9113520"/>
            <a:ext cx="359664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18"/>
          <p:cNvSpPr/>
          <p:nvPr/>
        </p:nvSpPr>
        <p:spPr>
          <a:xfrm>
            <a:off x="6022657" y="9189720"/>
            <a:ext cx="33997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environment &amp; seeds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9657398" y="9113520"/>
            <a:ext cx="6602730" cy="449580"/>
          </a:xfrm>
          <a:prstGeom prst="roundRect">
            <a:avLst>
              <a:gd name="adj" fmla="val 1694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Text 20"/>
          <p:cNvSpPr/>
          <p:nvPr/>
        </p:nvSpPr>
        <p:spPr>
          <a:xfrm>
            <a:off x="9809798" y="9189720"/>
            <a:ext cx="649601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dynamic pacing tried → no effect here, removed</a:t>
            </a:r>
            <a:endParaRPr lang="en-US" sz="1800" dirty="0"/>
          </a:p>
        </p:txBody>
      </p:sp>
      <p:pic>
        <p:nvPicPr>
          <p:cNvPr id="28" name="Immagine 27" descr="Anteprima immagine">
            <a:extLst>
              <a:ext uri="{FF2B5EF4-FFF2-40B4-BE49-F238E27FC236}">
                <a16:creationId xmlns:a16="http://schemas.microsoft.com/office/drawing/2014/main" id="{27B7762E-3DD3-4641-0893-54DC8130720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448" r="9684" b="22783"/>
          <a:stretch>
            <a:fillRect/>
          </a:stretch>
        </p:blipFill>
        <p:spPr>
          <a:xfrm>
            <a:off x="6661559" y="2948701"/>
            <a:ext cx="5106420" cy="395022"/>
          </a:xfrm>
          <a:prstGeom prst="rect">
            <a:avLst/>
          </a:prstGeom>
        </p:spPr>
      </p:pic>
      <p:sp>
        <p:nvSpPr>
          <p:cNvPr id="29" name="Shape 11">
            <a:extLst>
              <a:ext uri="{FF2B5EF4-FFF2-40B4-BE49-F238E27FC236}">
                <a16:creationId xmlns:a16="http://schemas.microsoft.com/office/drawing/2014/main" id="{3511348C-4B13-7A45-2245-0B5F4EC086FC}"/>
              </a:ext>
            </a:extLst>
          </p:cNvPr>
          <p:cNvSpPr/>
          <p:nvPr/>
        </p:nvSpPr>
        <p:spPr>
          <a:xfrm>
            <a:off x="952500" y="4973493"/>
            <a:ext cx="16383000" cy="1737003"/>
          </a:xfrm>
          <a:prstGeom prst="roundRect">
            <a:avLst>
              <a:gd name="adj" fmla="val 500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A4016F9-3058-70C6-BABD-9744492FC117}"/>
              </a:ext>
            </a:extLst>
          </p:cNvPr>
          <p:cNvSpPr/>
          <p:nvPr/>
        </p:nvSpPr>
        <p:spPr>
          <a:xfrm>
            <a:off x="1283969" y="5674295"/>
            <a:ext cx="3321897" cy="3474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</a:t>
            </a:r>
            <a:r>
              <a:rPr lang="en-US" kern="0" spc="150" dirty="0">
                <a:solidFill>
                  <a:srgbClr val="1E3A5F"/>
                </a:solidFill>
                <a:latin typeface="IBM Plex Mono" pitchFamily="34" charset="0"/>
              </a:rPr>
              <a:t>kl(·,·) FUNCTION</a:t>
            </a:r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1AAE80F-4F6B-52BD-89AD-D2FB90179EF8}"/>
              </a:ext>
            </a:extLst>
          </p:cNvPr>
          <p:cNvSpPr/>
          <p:nvPr/>
        </p:nvSpPr>
        <p:spPr>
          <a:xfrm>
            <a:off x="9143999" y="5179186"/>
            <a:ext cx="8201191" cy="131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KL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is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a </a:t>
            </a:r>
            <a:r>
              <a:rPr lang="it-IT" sz="2100" b="1" dirty="0">
                <a:solidFill>
                  <a:srgbClr val="16283C"/>
                </a:solidFill>
                <a:latin typeface="IBM Plex Sans" pitchFamily="34" charset="0"/>
              </a:rPr>
              <a:t>Bernoulli-</a:t>
            </a:r>
            <a:r>
              <a:rPr lang="it-IT" sz="2100" b="1" dirty="0" err="1">
                <a:solidFill>
                  <a:srgbClr val="16283C"/>
                </a:solidFill>
                <a:latin typeface="IBM Plex Sans" pitchFamily="34" charset="0"/>
              </a:rPr>
              <a:t>specific</a:t>
            </a:r>
            <a:r>
              <a:rPr lang="it-IT" sz="2100" b="1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b="1" dirty="0" err="1">
                <a:solidFill>
                  <a:srgbClr val="16283C"/>
                </a:solidFill>
                <a:latin typeface="IBM Plex Sans" pitchFamily="34" charset="0"/>
              </a:rPr>
              <a:t>distance</a:t>
            </a:r>
            <a:r>
              <a:rPr lang="it-IT" sz="2100" b="1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between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two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win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rates.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It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gives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tighter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bounds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near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0 and 1,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where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Hoeffding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tends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to be </a:t>
            </a:r>
            <a:r>
              <a:rPr lang="it-IT" sz="2100" dirty="0" err="1">
                <a:solidFill>
                  <a:srgbClr val="16283C"/>
                </a:solidFill>
                <a:latin typeface="IBM Plex Sans" pitchFamily="34" charset="0"/>
              </a:rPr>
              <a:t>too</a:t>
            </a:r>
            <a:r>
              <a:rPr lang="it-IT" sz="2100" dirty="0">
                <a:solidFill>
                  <a:srgbClr val="16283C"/>
                </a:solidFill>
                <a:latin typeface="IBM Plex Sans" pitchFamily="34" charset="0"/>
              </a:rPr>
              <a:t> conservative.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4F2DD451-4FF6-7CF2-CBD9-F237B8D979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63" r="3757"/>
          <a:stretch>
            <a:fillRect/>
          </a:stretch>
        </p:blipFill>
        <p:spPr>
          <a:xfrm>
            <a:off x="4615557" y="5536634"/>
            <a:ext cx="4334868" cy="7025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1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 and Ablation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9782532" cy="73533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7903" b="-7903"/>
          <a:stretch/>
        </p:blipFill>
        <p:spPr>
          <a:xfrm>
            <a:off x="1150620" y="2407920"/>
            <a:ext cx="9386292" cy="69570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77932" y="2209800"/>
            <a:ext cx="6257568" cy="1402080"/>
          </a:xfrm>
          <a:prstGeom prst="roundRect">
            <a:avLst>
              <a:gd name="adj" fmla="val 815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1371302" y="2617470"/>
            <a:ext cx="1408176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40.2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2841963" y="2777490"/>
            <a:ext cx="2857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242013" y="2465070"/>
            <a:ext cx="1810512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11.4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15078432" y="2929890"/>
            <a:ext cx="119133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regret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077932" y="3840480"/>
            <a:ext cx="3033474" cy="162687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1333202" y="4057650"/>
            <a:ext cx="2775228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82%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1333202" y="4655820"/>
            <a:ext cx="259913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clairvoyant reward (was 36%)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301907" y="3840480"/>
            <a:ext cx="3033594" cy="1626870"/>
          </a:xfrm>
          <a:prstGeom prst="roundRect">
            <a:avLst>
              <a:gd name="adj" fmla="val 702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4557177" y="4057650"/>
            <a:ext cx="2775359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123 / 125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14557177" y="4655820"/>
            <a:ext cx="2599254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budget spent, paced to the horizon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1077932" y="6671309"/>
            <a:ext cx="6257568" cy="3166957"/>
          </a:xfrm>
          <a:prstGeom prst="roundRect">
            <a:avLst>
              <a:gd name="adj" fmla="val 39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11371302" y="6926580"/>
            <a:ext cx="584095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ABLATION — SAME SEEDS, ONLY THE BOUND CHANGES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371302" y="7654290"/>
            <a:ext cx="5840953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 </a:t>
            </a:r>
            <a:r>
              <a:rPr lang="en-US" sz="21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11.4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(spend 123/125) vs Hoeffding </a:t>
            </a:r>
            <a:r>
              <a:rPr lang="en-US" sz="21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35.7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(spend 45/125): Hoeffding keeps insisting on low bids, rarely wins, and cannot even spend the budget. The gain comes from the bound.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06400" y="-571500"/>
            <a:ext cx="52806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0" b="1" dirty="0">
                <a:solidFill>
                  <a:srgbClr val="FFFFFF">
                    <a:alpha val="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E8A5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11580"/>
            <a:ext cx="13244513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Multiple Campaigns, Combinatorial-UCB with Budget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3032760"/>
            <a:ext cx="12753975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super-action per round — a feasible bid profile over the conflict graph — with semi-bandit feedback and a shared budget.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391025"/>
            <a:ext cx="663702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50620" y="4512945"/>
            <a:ext cx="643989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campaigns · v = (0.95, 0.85, 0.78, 0.90)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741920" y="4391025"/>
            <a:ext cx="4816673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940040" y="4512945"/>
            <a:ext cx="456493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= 3000 · B = 700 → ρ ≈ 0.233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2710994" y="4391025"/>
            <a:ext cx="366522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2909114" y="4512945"/>
            <a:ext cx="3378937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conflict chain 0–1–2–3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5107305"/>
            <a:ext cx="5448300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50620" y="5229225"/>
            <a:ext cx="521550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33 atomic arms · 250 super-actions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553200" y="5107305"/>
            <a:ext cx="7355205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751320" y="5229225"/>
            <a:ext cx="717962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Beta marginals + 30% common factor → corr ≈ 0.3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84505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10922" y="8872764"/>
            <a:ext cx="15190966" cy="605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D7E2EE"/>
                </a:solidFill>
                <a:latin typeface="IBM Plex Sans" pitchFamily="34" charset="0"/>
              </a:rPr>
              <a:t>Cl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airvoyant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LP over 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feasible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super-actions with 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true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expected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reward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and cost, under the </a:t>
            </a:r>
            <a:r>
              <a:rPr lang="it-IT" sz="2400" dirty="0" err="1">
                <a:solidFill>
                  <a:srgbClr val="D7E2EE"/>
                </a:solidFill>
                <a:latin typeface="IBM Plex Sans" pitchFamily="34" charset="0"/>
              </a:rPr>
              <a:t>average</a:t>
            </a:r>
            <a:r>
              <a:rPr lang="it-IT" sz="2400" dirty="0">
                <a:solidFill>
                  <a:srgbClr val="D7E2EE"/>
                </a:solidFill>
                <a:latin typeface="IBM Plex Sans" pitchFamily="34" charset="0"/>
              </a:rPr>
              <a:t> budget rate rho = B/T.</a:t>
            </a:r>
            <a:endParaRPr lang="en-US" sz="2400" dirty="0">
              <a:solidFill>
                <a:srgbClr val="D7E2EE"/>
              </a:solidFill>
              <a:latin typeface="IBM Plex Sans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2 · LAB-ALIGNED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Baseline: Learning Works, Pacing Fails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16383000" cy="5173980"/>
          </a:xfrm>
          <a:prstGeom prst="roundRect">
            <a:avLst>
              <a:gd name="adj" fmla="val 2209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8054" b="-8054"/>
          <a:stretch/>
        </p:blipFill>
        <p:spPr>
          <a:xfrm>
            <a:off x="1150620" y="2407920"/>
            <a:ext cx="15986760" cy="47777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7669530"/>
            <a:ext cx="5308521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226820" y="7905750"/>
            <a:ext cx="523586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MID-HORIZON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26820" y="8298180"/>
            <a:ext cx="490267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Pseudo-regret ≈ 0 — indistinguishable from the clairvoyant policy: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estimation is fine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89621" y="7669530"/>
            <a:ext cx="5308640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6763941" y="7905750"/>
            <a:ext cx="5236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≈ 1900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763941" y="8298180"/>
            <a:ext cx="49028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LCB underestimates true spend → budget exhausted early → only the null action remains, regret restarts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026860" y="7669530"/>
            <a:ext cx="5308640" cy="1893570"/>
          </a:xfrm>
          <a:prstGeom prst="roundRect">
            <a:avLst>
              <a:gd name="adj" fmla="val 6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301181" y="7905750"/>
            <a:ext cx="5236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01181" y="8298180"/>
            <a:ext cx="490280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Pseudo-regret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595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(0.198/round) vs random 0.435/round. Budget never violated (max 699/700).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2 · EXTENSION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Targeted Changes to the Learner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45870" y="2465070"/>
            <a:ext cx="82395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p(win) PER ARM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876550"/>
            <a:ext cx="3115270" cy="35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5870" y="3343037"/>
            <a:ext cx="771517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Bernoulli estimate per (campaign, bid) — semi-bandit feedback makes it valid arm by arm.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952500" y="4512707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1245870" y="4767977"/>
            <a:ext cx="82395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· EMPIRICAL COST IN THE LP</a:t>
            </a:r>
            <a:endParaRPr lang="en-US" sz="1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5179457"/>
            <a:ext cx="3530560" cy="350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45870" y="5645944"/>
            <a:ext cx="771517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declared deviation from optimism: the LP gets an </a:t>
            </a:r>
            <a:r>
              <a:rPr lang="en-US" sz="1800" b="1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unbiased 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 estimate. Defended by ablation →</a:t>
            </a:r>
            <a:endParaRPr lang="en-US" sz="18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1E95D7EA-4FFD-14D5-5562-1C5AF48BCA3C}"/>
              </a:ext>
            </a:extLst>
          </p:cNvPr>
          <p:cNvSpPr/>
          <p:nvPr/>
        </p:nvSpPr>
        <p:spPr>
          <a:xfrm>
            <a:off x="9260618" y="2209800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A0B1FCA3-0462-4917-1C92-74AE28CC2E4F}"/>
              </a:ext>
            </a:extLst>
          </p:cNvPr>
          <p:cNvSpPr/>
          <p:nvPr/>
        </p:nvSpPr>
        <p:spPr>
          <a:xfrm>
            <a:off x="9553988" y="2465070"/>
            <a:ext cx="82395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KL BOUND ON p(win)</a:t>
            </a:r>
            <a:endParaRPr lang="en-US" sz="1800" dirty="0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F0511A19-230B-8081-151C-F57A4BD6F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988" y="2876550"/>
            <a:ext cx="4206597" cy="350520"/>
          </a:xfrm>
          <a:prstGeom prst="rect">
            <a:avLst/>
          </a:prstGeom>
        </p:spPr>
      </p:pic>
      <p:sp>
        <p:nvSpPr>
          <p:cNvPr id="31" name="Shape 11">
            <a:extLst>
              <a:ext uri="{FF2B5EF4-FFF2-40B4-BE49-F238E27FC236}">
                <a16:creationId xmlns:a16="http://schemas.microsoft.com/office/drawing/2014/main" id="{D9D0A946-79F4-5798-2549-380C50C4CC26}"/>
              </a:ext>
            </a:extLst>
          </p:cNvPr>
          <p:cNvSpPr/>
          <p:nvPr/>
        </p:nvSpPr>
        <p:spPr>
          <a:xfrm>
            <a:off x="9260618" y="4512707"/>
            <a:ext cx="8077200" cy="2074307"/>
          </a:xfrm>
          <a:prstGeom prst="roundRect">
            <a:avLst>
              <a:gd name="adj" fmla="val 55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93BADF4F-EAE1-55B1-83D0-42C66AFE17AA}"/>
              </a:ext>
            </a:extLst>
          </p:cNvPr>
          <p:cNvSpPr/>
          <p:nvPr/>
        </p:nvSpPr>
        <p:spPr>
          <a:xfrm>
            <a:off x="9553988" y="4767977"/>
            <a:ext cx="823950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· DYNAMIC PACING</a:t>
            </a:r>
            <a:endParaRPr lang="en-US" sz="1800" dirty="0"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82D8BC3B-E1BB-2D5C-678E-2E508707A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988" y="5179457"/>
            <a:ext cx="2133124" cy="350520"/>
          </a:xfrm>
          <a:prstGeom prst="rect">
            <a:avLst/>
          </a:prstGeom>
        </p:spPr>
      </p:pic>
      <p:sp>
        <p:nvSpPr>
          <p:cNvPr id="37" name="Text 13">
            <a:extLst>
              <a:ext uri="{FF2B5EF4-FFF2-40B4-BE49-F238E27FC236}">
                <a16:creationId xmlns:a16="http://schemas.microsoft.com/office/drawing/2014/main" id="{63B366BD-2852-538F-22FA-12B984BFA5AB}"/>
              </a:ext>
            </a:extLst>
          </p:cNvPr>
          <p:cNvSpPr/>
          <p:nvPr/>
        </p:nvSpPr>
        <p:spPr>
          <a:xfrm>
            <a:off x="9553988" y="5645944"/>
            <a:ext cx="771517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LP cap tracks the remaining budget, restricted to still-affordable super-actions and corrects early spend drift.</a:t>
            </a:r>
            <a:endParaRPr lang="en-US" sz="18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0091F84-3DE3-935D-633D-BB77A623E3BC}"/>
              </a:ext>
            </a:extLst>
          </p:cNvPr>
          <p:cNvSpPr/>
          <p:nvPr/>
        </p:nvSpPr>
        <p:spPr>
          <a:xfrm>
            <a:off x="953294" y="6931152"/>
            <a:ext cx="16386048" cy="502581"/>
          </a:xfrm>
          <a:prstGeom prst="roundRect">
            <a:avLst>
              <a:gd name="adj" fmla="val 12954"/>
            </a:avLst>
          </a:prstGeom>
          <a:solidFill>
            <a:srgbClr val="E8EEF5"/>
          </a:solidFill>
          <a:ln/>
        </p:spPr>
        <p:txBody>
          <a:bodyPr/>
          <a:lstStyle/>
          <a:p>
            <a:pPr algn="ctr"/>
            <a:r>
              <a:rPr sz="2000" b="1" i="0" dirty="0">
                <a:solidFill>
                  <a:srgbClr val="464A52"/>
                </a:solidFill>
              </a:rPr>
              <a:t>Same LP structure as the course baseline; only the inputs change.</a:t>
            </a:r>
            <a:endParaRPr lang="it-IT" dirty="0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31E8F37A-34CF-7B65-AF72-6A400C0B8794}"/>
              </a:ext>
            </a:extLst>
          </p:cNvPr>
          <p:cNvSpPr txBox="1"/>
          <p:nvPr/>
        </p:nvSpPr>
        <p:spPr>
          <a:xfrm>
            <a:off x="9441631" y="3284220"/>
            <a:ext cx="7827531" cy="1145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</a:t>
            </a:r>
            <a:r>
              <a:rPr lang="en-US" sz="1700" dirty="0">
                <a:solidFill>
                  <a:srgbClr val="5F6F82"/>
                </a:solidFill>
                <a:latin typeface="IBM Plex Sans" panose="020B0503050203000203" pitchFamily="34" charset="0"/>
              </a:rPr>
              <a:t>ame motivation as R1: many arms have small win probabilities where </a:t>
            </a:r>
            <a:r>
              <a:rPr lang="en-US" sz="1700" dirty="0" err="1">
                <a:solidFill>
                  <a:srgbClr val="5F6F82"/>
                </a:solidFill>
                <a:latin typeface="IBM Plex Sans" panose="020B0503050203000203" pitchFamily="34" charset="0"/>
              </a:rPr>
              <a:t>Hoeffding</a:t>
            </a:r>
            <a:r>
              <a:rPr lang="en-US" sz="1700" dirty="0">
                <a:solidFill>
                  <a:srgbClr val="5F6F82"/>
                </a:solidFill>
                <a:latin typeface="IBM Plex Sans" panose="020B0503050203000203" pitchFamily="34" charset="0"/>
              </a:rPr>
              <a:t> remains too loose and ranks arms less accurately.</a:t>
            </a: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2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Results: Regret Stays Flat, Spend Reaches the Horizon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16383000" cy="5101590"/>
          </a:xfrm>
          <a:prstGeom prst="roundRect">
            <a:avLst>
              <a:gd name="adj" fmla="val 224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7174" b="-7174"/>
          <a:stretch/>
        </p:blipFill>
        <p:spPr>
          <a:xfrm>
            <a:off x="1150620" y="2407920"/>
            <a:ext cx="15986760" cy="47053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6615" y="7639050"/>
            <a:ext cx="61672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181781" y="7834630"/>
            <a:ext cx="230577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595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2990691" y="7834630"/>
            <a:ext cx="935858" cy="7829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580265" y="7834630"/>
            <a:ext cx="1494036" cy="835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70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1264620" y="8459893"/>
            <a:ext cx="4662047" cy="3069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pseudo-regret, same seeds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48300" y="7597140"/>
            <a:ext cx="48793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7641670" y="7833360"/>
            <a:ext cx="4721816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7641670" y="8431530"/>
            <a:ext cx="472181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the oracle’s expected reward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456200" y="7597140"/>
            <a:ext cx="4879300" cy="196596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2749569" y="7833360"/>
            <a:ext cx="4721816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0.023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12749569" y="8431530"/>
            <a:ext cx="47218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</a:t>
            </a:r>
            <a:r>
              <a:rPr lang="en-US" sz="1500" baseline="-400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/t at the horizon — still decreasing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2 · ABLATIONS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Ablations: Confidence Bound and Cost Estimate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8039100" cy="5737860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56766" b="-56766"/>
          <a:stretch/>
        </p:blipFill>
        <p:spPr>
          <a:xfrm>
            <a:off x="1131570" y="2388870"/>
            <a:ext cx="7680960" cy="5379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8138160"/>
            <a:ext cx="8039100" cy="1424940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1226820" y="8355330"/>
            <a:ext cx="144244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 vs 100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821662" y="8507730"/>
            <a:ext cx="607248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 vs Hoeffding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only the bound changes; KL orders small-probability arms correctly.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296400" y="2209800"/>
            <a:ext cx="8039100" cy="5737860"/>
          </a:xfrm>
          <a:prstGeom prst="roundRect">
            <a:avLst>
              <a:gd name="adj" fmla="val 199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 t="-56766" b="-56766"/>
          <a:stretch/>
        </p:blipFill>
        <p:spPr>
          <a:xfrm>
            <a:off x="9475470" y="2388870"/>
            <a:ext cx="7680960" cy="5379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296400" y="8138160"/>
            <a:ext cx="8039100" cy="1424940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/>
          <p:cNvSpPr/>
          <p:nvPr/>
        </p:nvSpPr>
        <p:spPr>
          <a:xfrm>
            <a:off x="9570720" y="8355330"/>
            <a:ext cx="131826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70 vs 166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1041381" y="8507730"/>
            <a:ext cx="620039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Empirical vs LCB cost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LCB spends 241 vs 176 by T/4; the early advantage collapses at the end.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06400" y="-571500"/>
            <a:ext cx="52806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0" b="1" dirty="0">
                <a:solidFill>
                  <a:srgbClr val="FFFFFF">
                    <a:alpha val="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E8A5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11580"/>
            <a:ext cx="13244513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Best-of-Both-Worlds: the Primal-Dual Method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3032760"/>
            <a:ext cx="12753975" cy="977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instance as Requirement 2, now with </a:t>
            </a:r>
            <a:r>
              <a:rPr lang="en-US" sz="2550" b="1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feedback </a:t>
            </a: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after each round, thresholds reveal reward and cost of every super-action.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4314825"/>
            <a:ext cx="10034944" cy="3869055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4050" b="-14050"/>
          <a:stretch/>
        </p:blipFill>
        <p:spPr>
          <a:xfrm>
            <a:off x="1104900" y="4467225"/>
            <a:ext cx="9730145" cy="356425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52500" y="8488680"/>
            <a:ext cx="163830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952500" y="9014460"/>
            <a:ext cx="154647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586990" y="8763000"/>
            <a:ext cx="1519096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D7E2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fixed distribution in hindsight satisfying the budget in expectation — we plot against full OPT, stricter than the ρ·OPT of the adversarial guarantee.</a:t>
            </a:r>
            <a:endParaRPr lang="en-US" sz="210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3F6A486-3B9A-C016-EEFB-2CFA5666E14E}"/>
              </a:ext>
            </a:extLst>
          </p:cNvPr>
          <p:cNvSpPr/>
          <p:nvPr/>
        </p:nvSpPr>
        <p:spPr>
          <a:xfrm>
            <a:off x="11420904" y="4817744"/>
            <a:ext cx="6081356" cy="883920"/>
          </a:xfrm>
          <a:prstGeom prst="roundRect">
            <a:avLst>
              <a:gd name="adj" fmla="val 8621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56AFF1D1-3376-1624-9592-2F7FFB0CB408}"/>
              </a:ext>
            </a:extLst>
          </p:cNvPr>
          <p:cNvSpPr/>
          <p:nvPr/>
        </p:nvSpPr>
        <p:spPr>
          <a:xfrm>
            <a:off x="11619024" y="4939664"/>
            <a:ext cx="586755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Stochastic: Beta marginals + common factor</a:t>
            </a:r>
            <a:endParaRPr lang="en-US" sz="1950" dirty="0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1F7C72C8-FE1F-2145-FC28-8C9B09CC1C99}"/>
              </a:ext>
            </a:extLst>
          </p:cNvPr>
          <p:cNvSpPr/>
          <p:nvPr/>
        </p:nvSpPr>
        <p:spPr>
          <a:xfrm>
            <a:off x="11420904" y="5854064"/>
            <a:ext cx="6081356" cy="883920"/>
          </a:xfrm>
          <a:prstGeom prst="roundRect">
            <a:avLst>
              <a:gd name="adj" fmla="val 8621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007B7C47-192D-2254-1151-E42F67778771}"/>
              </a:ext>
            </a:extLst>
          </p:cNvPr>
          <p:cNvSpPr/>
          <p:nvPr/>
        </p:nvSpPr>
        <p:spPr>
          <a:xfrm>
            <a:off x="11619024" y="5975984"/>
            <a:ext cx="5867556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Highly non-stationary: oblivious fast sinusoids + small noise</a:t>
            </a:r>
            <a:endParaRPr lang="en-US" sz="195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673E1E54-2063-C4B5-EB35-DDF77C93A7FC}"/>
              </a:ext>
            </a:extLst>
          </p:cNvPr>
          <p:cNvSpPr/>
          <p:nvPr/>
        </p:nvSpPr>
        <p:spPr>
          <a:xfrm>
            <a:off x="11420904" y="6890383"/>
            <a:ext cx="6081356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3A8015B2-DAB4-9A8A-2E8E-9C6A0624EA00}"/>
              </a:ext>
            </a:extLst>
          </p:cNvPr>
          <p:cNvSpPr/>
          <p:nvPr/>
        </p:nvSpPr>
        <p:spPr>
          <a:xfrm>
            <a:off x="11619024" y="7012303"/>
            <a:ext cx="5867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= 3000 · B = 700 · 250 super-actions</a:t>
            </a:r>
            <a:endParaRPr lang="en-US" sz="19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A0CF02D5-BC3E-DC79-CF6D-085E102DFD95}"/>
              </a:ext>
            </a:extLst>
          </p:cNvPr>
          <p:cNvSpPr/>
          <p:nvPr/>
        </p:nvSpPr>
        <p:spPr>
          <a:xfrm>
            <a:off x="11420904" y="7567612"/>
            <a:ext cx="6081356" cy="563880"/>
          </a:xfrm>
          <a:prstGeom prst="roundRect">
            <a:avLst>
              <a:gd name="adj" fmla="val 13514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86797B85-4F4C-864A-1FD0-1C9EB04CCAE1}"/>
              </a:ext>
            </a:extLst>
          </p:cNvPr>
          <p:cNvSpPr/>
          <p:nvPr/>
        </p:nvSpPr>
        <p:spPr>
          <a:xfrm>
            <a:off x="11619024" y="7675243"/>
            <a:ext cx="58675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Hard budget enforcement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3 · LAB-ALIGNED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Baseline: Primal-Dual with Course Constants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8600004" cy="1332071"/>
          </a:xfrm>
          <a:prstGeom prst="roundRect">
            <a:avLst>
              <a:gd name="adj" fmla="val 85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45870" y="2465070"/>
            <a:ext cx="881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PRIMAL — HEDGE ON 250 SUPER-ACTIONS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2895600"/>
            <a:ext cx="4378166" cy="3886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3732371"/>
            <a:ext cx="8600004" cy="1347311"/>
          </a:xfrm>
          <a:prstGeom prst="roundRect">
            <a:avLst>
              <a:gd name="adj" fmla="val 848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245870" y="3987641"/>
            <a:ext cx="8814590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DUAL — PROJECTED OGD, λ ∈ [0, 1/ρ]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" y="4433411"/>
            <a:ext cx="4279583" cy="3886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52500" y="5270182"/>
            <a:ext cx="8600004" cy="1375410"/>
          </a:xfrm>
          <a:prstGeom prst="roundRect">
            <a:avLst>
              <a:gd name="adj" fmla="val 831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245870" y="5525453"/>
            <a:ext cx="88145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COURSE LEARNING RATES</a:t>
            </a:r>
            <a:endParaRPr lang="en-US" sz="18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" y="5988248"/>
            <a:ext cx="5053370" cy="3886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857304" y="2209800"/>
            <a:ext cx="7478196" cy="1306830"/>
          </a:xfrm>
          <a:prstGeom prst="roundRect">
            <a:avLst>
              <a:gd name="adj" fmla="val 874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1"/>
          <p:cNvSpPr/>
          <p:nvPr/>
        </p:nvSpPr>
        <p:spPr>
          <a:xfrm>
            <a:off x="10112573" y="2426970"/>
            <a:ext cx="7664422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0.249 / 0.222</a:t>
            </a:r>
            <a:endParaRPr lang="en-US" sz="3150" dirty="0"/>
          </a:p>
        </p:txBody>
      </p:sp>
      <p:sp>
        <p:nvSpPr>
          <p:cNvPr id="17" name="Text 12"/>
          <p:cNvSpPr/>
          <p:nvPr/>
        </p:nvSpPr>
        <p:spPr>
          <a:xfrm>
            <a:off x="10112573" y="3002280"/>
            <a:ext cx="76644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regret/T — stochastic / non-stationary (random: 0.436 / 0.391)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9857304" y="3707130"/>
            <a:ext cx="7478196" cy="1306830"/>
          </a:xfrm>
          <a:prstGeom prst="roundRect">
            <a:avLst>
              <a:gd name="adj" fmla="val 874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10112573" y="3924300"/>
            <a:ext cx="7664422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569 / 558</a:t>
            </a:r>
            <a:endParaRPr lang="en-US" sz="3150" dirty="0"/>
          </a:p>
        </p:txBody>
      </p:sp>
      <p:sp>
        <p:nvSpPr>
          <p:cNvPr id="20" name="Text 15"/>
          <p:cNvSpPr/>
          <p:nvPr/>
        </p:nvSpPr>
        <p:spPr>
          <a:xfrm>
            <a:off x="10112573" y="4499610"/>
            <a:ext cx="766442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 out of 700 — clear </a:t>
            </a:r>
            <a:r>
              <a:rPr lang="en-US" sz="1800" b="1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under-spending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no violations</a:t>
            </a:r>
            <a:endParaRPr lang="en-US" sz="18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83B2BC70-8FA6-C97D-9FD0-DB37283F8463}"/>
              </a:ext>
            </a:extLst>
          </p:cNvPr>
          <p:cNvSpPr/>
          <p:nvPr/>
        </p:nvSpPr>
        <p:spPr>
          <a:xfrm>
            <a:off x="952500" y="6953323"/>
            <a:ext cx="8600004" cy="1954530"/>
          </a:xfrm>
          <a:prstGeom prst="roundRect">
            <a:avLst>
              <a:gd name="adj" fmla="val 5848"/>
            </a:avLst>
          </a:prstGeom>
          <a:solidFill>
            <a:srgbClr val="F3E7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3877AEF3-F0AE-3F30-AA67-DDD3C2784B46}"/>
              </a:ext>
            </a:extLst>
          </p:cNvPr>
          <p:cNvSpPr/>
          <p:nvPr/>
        </p:nvSpPr>
        <p:spPr>
          <a:xfrm>
            <a:off x="1214866" y="7067696"/>
            <a:ext cx="8075271" cy="1535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Normalization choice: </a:t>
            </a:r>
            <a:r>
              <a:rPr lang="en-US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Hedge needs losses in [0,1], but L</a:t>
            </a:r>
            <a:r>
              <a:rPr lang="en-US" baseline="-400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</a:t>
            </a:r>
            <a:r>
              <a:rPr lang="en-US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contains a time-varying </a:t>
            </a:r>
            <a:r>
              <a:rPr lang="en-US" dirty="0" err="1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λ</a:t>
            </a:r>
            <a:r>
              <a:rPr lang="en-US" baseline="-40000" dirty="0" err="1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</a:t>
            </a:r>
            <a:r>
              <a:rPr lang="en-US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Fixed worst-case bounds (λ</a:t>
            </a:r>
            <a:r>
              <a:rPr lang="en-US" baseline="-400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 </a:t>
            </a:r>
            <a:r>
              <a:rPr lang="en-US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1/ρ) keep one scale for the whole horizon — at the price of a </a:t>
            </a:r>
            <a:r>
              <a:rPr lang="en-US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range ≈ 11 </a:t>
            </a:r>
            <a:r>
              <a:rPr lang="en-US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which divides Hedge’s effective rate by the same factor, making it more conservative.</a:t>
            </a:r>
            <a:endParaRPr lang="en-US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0146A8C-6D36-ED8F-AA43-E1520631247E}"/>
              </a:ext>
            </a:extLst>
          </p:cNvPr>
          <p:cNvSpPr/>
          <p:nvPr/>
        </p:nvSpPr>
        <p:spPr>
          <a:xfrm>
            <a:off x="9857304" y="5262163"/>
            <a:ext cx="7478196" cy="2766060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8017C4EA-49C3-D0F1-CFFD-1050B43B2BC6}"/>
              </a:ext>
            </a:extLst>
          </p:cNvPr>
          <p:cNvSpPr/>
          <p:nvPr/>
        </p:nvSpPr>
        <p:spPr>
          <a:xfrm>
            <a:off x="10096287" y="5362176"/>
            <a:ext cx="6929557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</a:t>
            </a:r>
            <a:endParaRPr lang="en-US" sz="21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34B38A6C-478A-17D9-9044-21B7A43E1269}"/>
              </a:ext>
            </a:extLst>
          </p:cNvPr>
          <p:cNvSpPr/>
          <p:nvPr/>
        </p:nvSpPr>
        <p:spPr>
          <a:xfrm>
            <a:off x="10121115" y="5850809"/>
            <a:ext cx="7137443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 beats random in both regimes and never violates the budget, but converges slowly and leaves unused budget. The worst-case stop cannot explain the under-spend (it leaves at most one round of cost): it comes from the wide normalization and the generic constants.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3 · EXTENSION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Theory-Prescribed Learning Rates, Per-Action Budget Check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63651" y="2114311"/>
            <a:ext cx="8077200" cy="383476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264920" y="2484120"/>
            <a:ext cx="81975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· RATES FROM THE THEORY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2933700"/>
            <a:ext cx="3329107" cy="3657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920" y="3495556"/>
            <a:ext cx="6314242" cy="365760"/>
          </a:xfrm>
          <a:prstGeom prst="rect">
            <a:avLst/>
          </a:prstGeom>
        </p:spPr>
      </p:pic>
      <p:sp>
        <p:nvSpPr>
          <p:cNvPr id="32" name="Text 4">
            <a:extLst>
              <a:ext uri="{FF2B5EF4-FFF2-40B4-BE49-F238E27FC236}">
                <a16:creationId xmlns:a16="http://schemas.microsoft.com/office/drawing/2014/main" id="{E16A642B-36D4-B897-5B0B-EA36B9EB3C3A}"/>
              </a:ext>
            </a:extLst>
          </p:cNvPr>
          <p:cNvSpPr/>
          <p:nvPr/>
        </p:nvSpPr>
        <p:spPr>
          <a:xfrm>
            <a:off x="1199388" y="4108966"/>
            <a:ext cx="7560564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Hedge updates only on the action-dependent part of the Lagrangian (λ</a:t>
            </a:r>
            <a:r>
              <a:rPr lang="en-US" sz="1500" baseline="-400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ρ is constant over actions) and uses the same fixed normalization. Not a new method — uses constants prescribed by Hedge and OGD theory for these specific ranges.</a:t>
            </a:r>
            <a:endParaRPr lang="en-US" sz="18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D78127DC-4922-5EAC-BBF7-E637B0280550}"/>
              </a:ext>
            </a:extLst>
          </p:cNvPr>
          <p:cNvSpPr/>
          <p:nvPr/>
        </p:nvSpPr>
        <p:spPr>
          <a:xfrm>
            <a:off x="9169451" y="2119073"/>
            <a:ext cx="8077200" cy="3834765"/>
          </a:xfrm>
          <a:prstGeom prst="roundRect">
            <a:avLst>
              <a:gd name="adj" fmla="val 298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36CFB330-5B0E-83DD-D9F8-EAF2E02D4656}"/>
              </a:ext>
            </a:extLst>
          </p:cNvPr>
          <p:cNvSpPr/>
          <p:nvPr/>
        </p:nvSpPr>
        <p:spPr>
          <a:xfrm>
            <a:off x="9481871" y="2393393"/>
            <a:ext cx="819759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· PER-ACTION BUDGET CHECK</a:t>
            </a:r>
            <a:endParaRPr lang="en-US" sz="1800" dirty="0"/>
          </a:p>
        </p:txBody>
      </p:sp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6A58C8AD-DA31-4EDE-E8FF-FD55F2A926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871" y="2842973"/>
            <a:ext cx="4943713" cy="365760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2E301614-2315-91E2-5721-C4651319B3D8}"/>
              </a:ext>
            </a:extLst>
          </p:cNvPr>
          <p:cNvSpPr/>
          <p:nvPr/>
        </p:nvSpPr>
        <p:spPr>
          <a:xfrm>
            <a:off x="9481871" y="3361133"/>
            <a:ext cx="7675931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Replaces the global worst-case stop: only the sampled action that cannot be paid is substituted. Controls the action we actually execute instead of the worst case.</a:t>
            </a:r>
            <a:endParaRPr lang="en-US" sz="18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8CAFBF43-7FAD-8109-CECA-081B5FB7AD21}"/>
              </a:ext>
            </a:extLst>
          </p:cNvPr>
          <p:cNvSpPr/>
          <p:nvPr/>
        </p:nvSpPr>
        <p:spPr>
          <a:xfrm>
            <a:off x="9481871" y="4576523"/>
            <a:ext cx="7675931" cy="114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b="1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Declared asymmetry: 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Hedge and the dual still update on the proposed x </a:t>
            </a:r>
            <a:r>
              <a:rPr lang="en-US" sz="1500" baseline="-400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while the budget decreases with the cost of the executed action.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</a:t>
            </a: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verride frequency is ≈ 0 in both regimes.</a:t>
            </a:r>
            <a:endParaRPr lang="en-US" sz="1800" dirty="0"/>
          </a:p>
        </p:txBody>
      </p:sp>
      <p:sp>
        <p:nvSpPr>
          <p:cNvPr id="46" name="Shape 9">
            <a:extLst>
              <a:ext uri="{FF2B5EF4-FFF2-40B4-BE49-F238E27FC236}">
                <a16:creationId xmlns:a16="http://schemas.microsoft.com/office/drawing/2014/main" id="{C935C3F6-75A7-37A5-2DF9-9EDEF1FFE866}"/>
              </a:ext>
            </a:extLst>
          </p:cNvPr>
          <p:cNvSpPr/>
          <p:nvPr/>
        </p:nvSpPr>
        <p:spPr>
          <a:xfrm>
            <a:off x="863651" y="6258638"/>
            <a:ext cx="16383000" cy="1367433"/>
          </a:xfrm>
          <a:prstGeom prst="roundRect">
            <a:avLst>
              <a:gd name="adj" fmla="val 8359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6780831B-EA36-C7CF-0299-3F1542BA314A}"/>
              </a:ext>
            </a:extLst>
          </p:cNvPr>
          <p:cNvSpPr/>
          <p:nvPr/>
        </p:nvSpPr>
        <p:spPr>
          <a:xfrm>
            <a:off x="1187501" y="6793705"/>
            <a:ext cx="3780282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DYNAMIC PACING HERE</a:t>
            </a:r>
            <a:endParaRPr lang="en-US" sz="18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FBDF6D6B-E4E5-33DF-1293-245AE0DA4FEA}"/>
              </a:ext>
            </a:extLst>
          </p:cNvPr>
          <p:cNvSpPr/>
          <p:nvPr/>
        </p:nvSpPr>
        <p:spPr>
          <a:xfrm>
            <a:off x="4890821" y="6475808"/>
            <a:ext cx="11814810" cy="910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primal-dual, dynamic pacing is already encoded in the dual variable: λ</a:t>
            </a:r>
            <a:r>
              <a:rPr lang="en-US" sz="1750" baseline="-400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</a:t>
            </a: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rises when average spend exceeds ρ and depresses costly bids.</a:t>
            </a:r>
            <a:endParaRPr lang="en-US" sz="2100" dirty="0"/>
          </a:p>
        </p:txBody>
      </p:sp>
      <p:sp>
        <p:nvSpPr>
          <p:cNvPr id="52" name="Shape 8">
            <a:extLst>
              <a:ext uri="{FF2B5EF4-FFF2-40B4-BE49-F238E27FC236}">
                <a16:creationId xmlns:a16="http://schemas.microsoft.com/office/drawing/2014/main" id="{C5D3410D-EC2B-6DBD-F54A-942559068882}"/>
              </a:ext>
            </a:extLst>
          </p:cNvPr>
          <p:cNvSpPr/>
          <p:nvPr/>
        </p:nvSpPr>
        <p:spPr>
          <a:xfrm>
            <a:off x="863651" y="7929396"/>
            <a:ext cx="16383000" cy="1498449"/>
          </a:xfrm>
          <a:prstGeom prst="roundRect">
            <a:avLst>
              <a:gd name="adj" fmla="val 5848"/>
            </a:avLst>
          </a:prstGeom>
          <a:solidFill>
            <a:srgbClr val="F3E7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D0086E6A-93F0-9358-261B-AB1812861BA6}"/>
              </a:ext>
            </a:extLst>
          </p:cNvPr>
          <p:cNvSpPr/>
          <p:nvPr/>
        </p:nvSpPr>
        <p:spPr>
          <a:xfrm>
            <a:off x="1126017" y="7998049"/>
            <a:ext cx="15838694" cy="1177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Ablation Study: 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The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ablation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study yields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identical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regret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and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expenditure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for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both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rules,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proving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that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performance gains stem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entirely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from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optimal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Hedge/OGD learning rates;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however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, the per-action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constraint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is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preserved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for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its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logical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superiority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in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managing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actual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sampled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 actions over conservative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worst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-case </a:t>
            </a:r>
            <a:r>
              <a:rPr lang="it-IT" sz="19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shutdowns</a:t>
            </a:r>
            <a:r>
              <a:rPr lang="it-IT" sz="1900" dirty="0">
                <a:solidFill>
                  <a:srgbClr val="1E3A5F"/>
                </a:solidFill>
                <a:latin typeface="IBM Plex Sans" panose="020B0503050203000203" pitchFamily="34" charset="0"/>
              </a:rPr>
              <a:t>.</a:t>
            </a:r>
            <a:endParaRPr lang="en-US" sz="1900" dirty="0">
              <a:solidFill>
                <a:srgbClr val="1E3A5F"/>
              </a:solidFill>
              <a:latin typeface="IBM Plex Sans" panose="020B050305020300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3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 in Both Regimes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209800"/>
            <a:ext cx="88639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STOCHASTIC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640330"/>
            <a:ext cx="8058150" cy="539115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6464" b="-6464"/>
          <a:stretch/>
        </p:blipFill>
        <p:spPr>
          <a:xfrm>
            <a:off x="1112520" y="2800350"/>
            <a:ext cx="7738110" cy="5071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7350" y="2209800"/>
            <a:ext cx="886396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HIGHLY NON-STATIONARY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277350" y="2640330"/>
            <a:ext cx="8058150" cy="539115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6464" b="-6464"/>
          <a:stretch/>
        </p:blipFill>
        <p:spPr>
          <a:xfrm>
            <a:off x="9437370" y="2800350"/>
            <a:ext cx="7738110" cy="507111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52500" y="8298180"/>
            <a:ext cx="5308521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1226820" y="8614410"/>
            <a:ext cx="116205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0.249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2446020" y="8698230"/>
            <a:ext cx="2333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13" name="Text 9"/>
          <p:cNvSpPr/>
          <p:nvPr/>
        </p:nvSpPr>
        <p:spPr>
          <a:xfrm>
            <a:off x="2736533" y="851535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0.121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241483" y="8751570"/>
            <a:ext cx="1821418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regret/T, stochastic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489621" y="8298180"/>
            <a:ext cx="5308640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6763941" y="8614410"/>
            <a:ext cx="1162050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0.222</a:t>
            </a:r>
            <a:endParaRPr lang="en-US" sz="2850" dirty="0"/>
          </a:p>
        </p:txBody>
      </p:sp>
      <p:sp>
        <p:nvSpPr>
          <p:cNvPr id="17" name="Text 13"/>
          <p:cNvSpPr/>
          <p:nvPr/>
        </p:nvSpPr>
        <p:spPr>
          <a:xfrm>
            <a:off x="7983141" y="8698230"/>
            <a:ext cx="2333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Text 14"/>
          <p:cNvSpPr/>
          <p:nvPr/>
        </p:nvSpPr>
        <p:spPr>
          <a:xfrm>
            <a:off x="8273653" y="8515350"/>
            <a:ext cx="15087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0.134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9778603" y="8751570"/>
            <a:ext cx="1821537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regret/T, non-stationary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026860" y="8298180"/>
            <a:ext cx="5308640" cy="1264920"/>
          </a:xfrm>
          <a:prstGeom prst="roundRect">
            <a:avLst>
              <a:gd name="adj" fmla="val 903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12301181" y="8540115"/>
            <a:ext cx="523600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85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569→676 · 558→597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12301181" y="9023985"/>
            <a:ext cx="5236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 out of 700 — never a violation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3 · VALIDATION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Horizon Sweep: Best-of-Both-Worlds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52500" y="2209800"/>
            <a:ext cx="16383000" cy="44119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5290" r="-15290"/>
          <a:stretch/>
        </p:blipFill>
        <p:spPr>
          <a:xfrm>
            <a:off x="1150620" y="2407920"/>
            <a:ext cx="15986760" cy="4015740"/>
          </a:xfrm>
          <a:prstGeom prst="rect">
            <a:avLst/>
          </a:prstGeom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B28ABC78-14B5-7182-CFB9-2F26E58B7490}"/>
              </a:ext>
            </a:extLst>
          </p:cNvPr>
          <p:cNvSpPr/>
          <p:nvPr/>
        </p:nvSpPr>
        <p:spPr>
          <a:xfrm>
            <a:off x="952500" y="6926580"/>
            <a:ext cx="8077200" cy="134112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4520C5E-F2B6-AEB2-CD11-18E92AF0D726}"/>
              </a:ext>
            </a:extLst>
          </p:cNvPr>
          <p:cNvSpPr/>
          <p:nvPr/>
        </p:nvSpPr>
        <p:spPr>
          <a:xfrm>
            <a:off x="1245870" y="7124700"/>
            <a:ext cx="2909570" cy="98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0.27 → 0.12</a:t>
            </a:r>
            <a:endParaRPr lang="en-US" sz="285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84596D3-F296-D39B-E2DA-3E7FB16FB916}"/>
              </a:ext>
            </a:extLst>
          </p:cNvPr>
          <p:cNvSpPr/>
          <p:nvPr/>
        </p:nvSpPr>
        <p:spPr>
          <a:xfrm>
            <a:off x="1245870" y="7672070"/>
            <a:ext cx="778383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regret/T as T grows, stochastic — consistent with sublinear regret</a:t>
            </a:r>
            <a:endParaRPr lang="en-US" sz="18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2497CFAB-07E6-30D4-7735-E2A6B72CD988}"/>
              </a:ext>
            </a:extLst>
          </p:cNvPr>
          <p:cNvSpPr/>
          <p:nvPr/>
        </p:nvSpPr>
        <p:spPr>
          <a:xfrm>
            <a:off x="9258300" y="6926580"/>
            <a:ext cx="8077200" cy="134112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686F6D85-DCEB-6991-332D-AE179CACB79D}"/>
              </a:ext>
            </a:extLst>
          </p:cNvPr>
          <p:cNvSpPr/>
          <p:nvPr/>
        </p:nvSpPr>
        <p:spPr>
          <a:xfrm>
            <a:off x="9551670" y="7124700"/>
            <a:ext cx="2894330" cy="547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0.23 → 0.13</a:t>
            </a:r>
            <a:endParaRPr lang="en-US" sz="285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851F5961-3B67-06ED-F474-5D3CBE5894FD}"/>
              </a:ext>
            </a:extLst>
          </p:cNvPr>
          <p:cNvSpPr/>
          <p:nvPr/>
        </p:nvSpPr>
        <p:spPr>
          <a:xfrm>
            <a:off x="9389745" y="7677150"/>
            <a:ext cx="7652385" cy="370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regret/T as T grows, non-stationary — same algorithm, same constants</a:t>
            </a:r>
            <a:endParaRPr lang="en-US" sz="180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079D466E-EDB7-6011-2DA8-2C97C9556362}"/>
              </a:ext>
            </a:extLst>
          </p:cNvPr>
          <p:cNvSpPr/>
          <p:nvPr/>
        </p:nvSpPr>
        <p:spPr>
          <a:xfrm>
            <a:off x="952500" y="8458200"/>
            <a:ext cx="16383000" cy="1181100"/>
          </a:xfrm>
          <a:prstGeom prst="roundRect">
            <a:avLst>
              <a:gd name="adj" fmla="val 9677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D278B67F-3A18-F496-293A-9B6D9FE2ABA4}"/>
              </a:ext>
            </a:extLst>
          </p:cNvPr>
          <p:cNvSpPr/>
          <p:nvPr/>
        </p:nvSpPr>
        <p:spPr>
          <a:xfrm>
            <a:off x="1257300" y="8669020"/>
            <a:ext cx="1588008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it-IT" sz="2100" b="1" dirty="0">
                <a:solidFill>
                  <a:srgbClr val="1E3A5F"/>
                </a:solidFill>
                <a:latin typeface="IBM Plex Sans" panose="020B0503050203000203" pitchFamily="34" charset="0"/>
              </a:rPr>
              <a:t>Expected best-of-</a:t>
            </a:r>
            <a:r>
              <a:rPr lang="it-IT" sz="2100" b="1" dirty="0" err="1">
                <a:solidFill>
                  <a:srgbClr val="1E3A5F"/>
                </a:solidFill>
                <a:latin typeface="IBM Plex Sans" panose="020B0503050203000203" pitchFamily="34" charset="0"/>
              </a:rPr>
              <a:t>both</a:t>
            </a:r>
            <a:r>
              <a:rPr lang="it-IT" sz="2100" b="1" dirty="0">
                <a:solidFill>
                  <a:srgbClr val="1E3A5F"/>
                </a:solidFill>
                <a:latin typeface="IBM Plex Sans" panose="020B0503050203000203" pitchFamily="34" charset="0"/>
              </a:rPr>
              <a:t>-worlds </a:t>
            </a:r>
            <a:r>
              <a:rPr lang="it-IT" sz="2100" b="1" dirty="0" err="1">
                <a:solidFill>
                  <a:srgbClr val="1E3A5F"/>
                </a:solidFill>
                <a:latin typeface="IBM Plex Sans" panose="020B0503050203000203" pitchFamily="34" charset="0"/>
              </a:rPr>
              <a:t>behavior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: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sweeping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 from 100 to 3000,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regret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/round of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primal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-dual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decreases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 in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both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regimes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,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while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 the random stays high and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almost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 </a:t>
            </a:r>
            <a:r>
              <a:rPr lang="it-IT" sz="2100" dirty="0" err="1">
                <a:solidFill>
                  <a:srgbClr val="1E3A5F"/>
                </a:solidFill>
                <a:latin typeface="IBM Plex Sans" panose="020B0503050203000203" pitchFamily="34" charset="0"/>
              </a:rPr>
              <a:t>flat</a:t>
            </a:r>
            <a:r>
              <a:rPr lang="it-IT" sz="2100" dirty="0">
                <a:solidFill>
                  <a:srgbClr val="1E3A5F"/>
                </a:solidFill>
                <a:latin typeface="IBM Plex Sans" panose="020B0503050203000203" pitchFamily="34" charset="0"/>
              </a:rPr>
              <a:t>. </a:t>
            </a:r>
            <a:endParaRPr lang="en-US" sz="2100" dirty="0">
              <a:solidFill>
                <a:srgbClr val="1E3A5F"/>
              </a:solidFill>
              <a:latin typeface="IBM Plex Sans" panose="020B050305020300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06400" y="-571500"/>
            <a:ext cx="5280660" cy="403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0" b="1" dirty="0">
                <a:solidFill>
                  <a:srgbClr val="FFFFFF">
                    <a:alpha val="6000"/>
                  </a:srgbClr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E8A58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211580"/>
            <a:ext cx="13735050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Slightly Non-Stationary Environments with Multiple Campaigns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952500" y="3032760"/>
            <a:ext cx="13735050" cy="1446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Combinatorial-UCB from Req 2, extended with a </a:t>
            </a:r>
            <a:r>
              <a:rPr lang="en-US" sz="2550" b="1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sliding window </a:t>
            </a: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 a </a:t>
            </a:r>
            <a:r>
              <a:rPr lang="en-US" sz="2550" b="1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detector </a:t>
            </a: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compared with the </a:t>
            </a:r>
            <a:r>
              <a:rPr lang="en-US" sz="2550" b="1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 </a:t>
            </a:r>
            <a:r>
              <a:rPr lang="en-US" sz="2550" dirty="0">
                <a:solidFill>
                  <a:srgbClr val="B9C8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 from Req 3. At each change point the competitor bid distributions change — and with them which campaigns are profitable.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226820" y="7153275"/>
            <a:ext cx="371322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HORIZON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6820" y="7526655"/>
            <a:ext cx="3713226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= 3000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26820" y="8143875"/>
            <a:ext cx="3476930" cy="744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equal segments, L = 1000, 2 known change points (Υ </a:t>
            </a:r>
            <a:r>
              <a:rPr lang="en-US" sz="1500" baseline="-400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 </a:t>
            </a:r>
            <a:r>
              <a:rPr lang="en-US" sz="18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 2).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054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379720" y="7153275"/>
            <a:ext cx="371322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BUDGET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9720" y="7526655"/>
            <a:ext cx="3713226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= 560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379720" y="8143875"/>
            <a:ext cx="347693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First-price auctions, 4 campaigns, ρ = B/T ≈ 0.187.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583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532620" y="7153275"/>
            <a:ext cx="371322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ALGORITHMS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32620" y="7526655"/>
            <a:ext cx="347693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 Combinatorial-UCB CUSUM Combinatorial-UCB Primal-dual (full feedback)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3411200" y="6917055"/>
            <a:ext cx="3924300" cy="2646045"/>
          </a:xfrm>
          <a:prstGeom prst="roundRect">
            <a:avLst>
              <a:gd name="adj" fmla="val 4320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3685520" y="7153275"/>
            <a:ext cx="371322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7FC0B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85520" y="7526655"/>
            <a:ext cx="3713226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≈ 1229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3685520" y="8143875"/>
            <a:ext cx="347693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9FB4C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segment-local oracle: one LP per segment, same ρ per round.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SETUP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= 3000 · 3 segments · B = 560</a:t>
            </a:r>
            <a:endParaRPr lang="en-US" sz="1800" dirty="0"/>
          </a:p>
        </p:txBody>
      </p:sp>
      <p:sp>
        <p:nvSpPr>
          <p:cNvPr id="50" name="Shape 3">
            <a:extLst>
              <a:ext uri="{FF2B5EF4-FFF2-40B4-BE49-F238E27FC236}">
                <a16:creationId xmlns:a16="http://schemas.microsoft.com/office/drawing/2014/main" id="{5FAF7A2D-8D40-3C22-67CA-0D2A66885854}"/>
              </a:ext>
            </a:extLst>
          </p:cNvPr>
          <p:cNvSpPr/>
          <p:nvPr/>
        </p:nvSpPr>
        <p:spPr>
          <a:xfrm>
            <a:off x="952500" y="2545080"/>
            <a:ext cx="8616583" cy="6724650"/>
          </a:xfrm>
          <a:prstGeom prst="roundRect">
            <a:avLst>
              <a:gd name="adj" fmla="val 1629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75C41FD0-E076-AFBB-4A45-19ED1B2C192D}"/>
              </a:ext>
            </a:extLst>
          </p:cNvPr>
          <p:cNvSpPr/>
          <p:nvPr/>
        </p:nvSpPr>
        <p:spPr>
          <a:xfrm>
            <a:off x="1070756" y="2876550"/>
            <a:ext cx="84297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bid per campaign each round, from a </a:t>
            </a:r>
            <a:r>
              <a:rPr lang="en-US" sz="195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 of 8 values </a:t>
            </a: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denser on low bids (step 0.10, then 0.15).</a:t>
            </a:r>
            <a:endParaRPr lang="en-US" sz="1950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77D2A195-F7D3-1E3C-D3B7-7BE76B0C94F5}"/>
              </a:ext>
            </a:extLst>
          </p:cNvPr>
          <p:cNvSpPr/>
          <p:nvPr/>
        </p:nvSpPr>
        <p:spPr>
          <a:xfrm>
            <a:off x="1070756" y="4372451"/>
            <a:ext cx="84297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Conflict chain C1–C2–C3–C4</a:t>
            </a: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adjacent campaigns cannot both bid → </a:t>
            </a:r>
            <a:r>
              <a:rPr lang="en-US" sz="195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168 super-actions</a:t>
            </a: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27 positive arms.</a:t>
            </a:r>
            <a:endParaRPr lang="en-US" sz="1950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54314591-2774-7346-7081-D110E49BA0AB}"/>
              </a:ext>
            </a:extLst>
          </p:cNvPr>
          <p:cNvSpPr/>
          <p:nvPr/>
        </p:nvSpPr>
        <p:spPr>
          <a:xfrm>
            <a:off x="1070755" y="5891212"/>
            <a:ext cx="8429763" cy="115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campaign has a hidden threshold			         , fixed within a </a:t>
            </a:r>
            <a:r>
              <a:rPr lang="en-US" sz="1950" dirty="0">
                <a:solidFill>
                  <a:srgbClr val="16283C"/>
                </a:solidFill>
                <a:latin typeface="IBM Plex Sans" pitchFamily="34" charset="0"/>
              </a:rPr>
              <a:t>segment, new at each change point.</a:t>
            </a:r>
          </a:p>
        </p:txBody>
      </p:sp>
      <p:pic>
        <p:nvPicPr>
          <p:cNvPr id="58" name="Image 0" descr="preencoded.png">
            <a:extLst>
              <a:ext uri="{FF2B5EF4-FFF2-40B4-BE49-F238E27FC236}">
                <a16:creationId xmlns:a16="http://schemas.microsoft.com/office/drawing/2014/main" id="{6C50E196-2832-05A7-1A84-B4B27CF31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207" y="5958581"/>
            <a:ext cx="2520553" cy="320040"/>
          </a:xfrm>
          <a:prstGeom prst="rect">
            <a:avLst/>
          </a:prstGeom>
        </p:spPr>
      </p:pic>
      <p:sp>
        <p:nvSpPr>
          <p:cNvPr id="60" name="Text 10">
            <a:extLst>
              <a:ext uri="{FF2B5EF4-FFF2-40B4-BE49-F238E27FC236}">
                <a16:creationId xmlns:a16="http://schemas.microsoft.com/office/drawing/2014/main" id="{0C107938-6CB2-B33E-F720-CE263D9FA60C}"/>
              </a:ext>
            </a:extLst>
          </p:cNvPr>
          <p:cNvSpPr/>
          <p:nvPr/>
        </p:nvSpPr>
        <p:spPr>
          <a:xfrm>
            <a:off x="1070756" y="7387114"/>
            <a:ext cx="1250394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Win where</a:t>
            </a:r>
            <a:endParaRPr lang="en-US" sz="1950" dirty="0"/>
          </a:p>
        </p:txBody>
      </p:sp>
      <p:pic>
        <p:nvPicPr>
          <p:cNvPr id="62" name="Image 1" descr="preencoded.png">
            <a:extLst>
              <a:ext uri="{FF2B5EF4-FFF2-40B4-BE49-F238E27FC236}">
                <a16:creationId xmlns:a16="http://schemas.microsoft.com/office/drawing/2014/main" id="{62F4BD50-A5A5-3181-CD23-F3744DF93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410" y="7387114"/>
            <a:ext cx="952500" cy="320040"/>
          </a:xfrm>
          <a:prstGeom prst="rect">
            <a:avLst/>
          </a:prstGeom>
        </p:spPr>
      </p:pic>
      <p:sp>
        <p:nvSpPr>
          <p:cNvPr id="64" name="Text 11">
            <a:extLst>
              <a:ext uri="{FF2B5EF4-FFF2-40B4-BE49-F238E27FC236}">
                <a16:creationId xmlns:a16="http://schemas.microsoft.com/office/drawing/2014/main" id="{9D76413D-A393-7425-F869-EECAE785E73E}"/>
              </a:ext>
            </a:extLst>
          </p:cNvPr>
          <p:cNvSpPr/>
          <p:nvPr/>
        </p:nvSpPr>
        <p:spPr>
          <a:xfrm>
            <a:off x="3255910" y="7387114"/>
            <a:ext cx="349078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pay the bid (first price): utility</a:t>
            </a:r>
            <a:endParaRPr lang="en-US" sz="1950" dirty="0"/>
          </a:p>
        </p:txBody>
      </p:sp>
      <p:pic>
        <p:nvPicPr>
          <p:cNvPr id="66" name="Image 2" descr="preencoded.png">
            <a:extLst>
              <a:ext uri="{FF2B5EF4-FFF2-40B4-BE49-F238E27FC236}">
                <a16:creationId xmlns:a16="http://schemas.microsoft.com/office/drawing/2014/main" id="{1E92A6F4-0176-338C-D0D5-CD06A75EE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484" y="7387114"/>
            <a:ext cx="806648" cy="320040"/>
          </a:xfrm>
          <a:prstGeom prst="rect">
            <a:avLst/>
          </a:prstGeom>
        </p:spPr>
      </p:pic>
      <p:sp>
        <p:nvSpPr>
          <p:cNvPr id="68" name="Text 12">
            <a:extLst>
              <a:ext uri="{FF2B5EF4-FFF2-40B4-BE49-F238E27FC236}">
                <a16:creationId xmlns:a16="http://schemas.microsoft.com/office/drawing/2014/main" id="{2215404A-9CE7-D1DE-29F2-191BB9684962}"/>
              </a:ext>
            </a:extLst>
          </p:cNvPr>
          <p:cNvSpPr/>
          <p:nvPr/>
        </p:nvSpPr>
        <p:spPr>
          <a:xfrm>
            <a:off x="7510133" y="7387114"/>
            <a:ext cx="669607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cost</a:t>
            </a:r>
            <a:endParaRPr lang="en-US" sz="1950" dirty="0"/>
          </a:p>
        </p:txBody>
      </p:sp>
      <p:pic>
        <p:nvPicPr>
          <p:cNvPr id="70" name="Image 3" descr="preencoded.png">
            <a:extLst>
              <a:ext uri="{FF2B5EF4-FFF2-40B4-BE49-F238E27FC236}">
                <a16:creationId xmlns:a16="http://schemas.microsoft.com/office/drawing/2014/main" id="{F30CD5CA-9EF8-7B3C-66AA-09B2FA72CC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000" y="7387114"/>
            <a:ext cx="218480" cy="320040"/>
          </a:xfrm>
          <a:prstGeom prst="rect">
            <a:avLst/>
          </a:prstGeom>
        </p:spPr>
      </p:pic>
      <p:sp>
        <p:nvSpPr>
          <p:cNvPr id="72" name="Text 13">
            <a:extLst>
              <a:ext uri="{FF2B5EF4-FFF2-40B4-BE49-F238E27FC236}">
                <a16:creationId xmlns:a16="http://schemas.microsoft.com/office/drawing/2014/main" id="{3375D33A-43CC-35B9-5F91-754F02ED810B}"/>
              </a:ext>
            </a:extLst>
          </p:cNvPr>
          <p:cNvSpPr/>
          <p:nvPr/>
        </p:nvSpPr>
        <p:spPr>
          <a:xfrm>
            <a:off x="8435114" y="7387114"/>
            <a:ext cx="143589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74" name="Text 14">
            <a:extLst>
              <a:ext uri="{FF2B5EF4-FFF2-40B4-BE49-F238E27FC236}">
                <a16:creationId xmlns:a16="http://schemas.microsoft.com/office/drawing/2014/main" id="{BD558467-06D0-46FC-3DEA-5DE9F95F42B3}"/>
              </a:ext>
            </a:extLst>
          </p:cNvPr>
          <p:cNvSpPr/>
          <p:nvPr/>
        </p:nvSpPr>
        <p:spPr>
          <a:xfrm>
            <a:off x="1070756" y="8488680"/>
            <a:ext cx="842976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campaigns draw from a </a:t>
            </a:r>
            <a:r>
              <a:rPr lang="en-US" sz="195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budget </a:t>
            </a:r>
            <a:r>
              <a:rPr lang="en-US" sz="195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 = 560, ρ = B/T ≈ 0.187 per round.</a:t>
            </a:r>
            <a:endParaRPr lang="en-US" sz="1950" dirty="0"/>
          </a:p>
        </p:txBody>
      </p:sp>
      <p:sp>
        <p:nvSpPr>
          <p:cNvPr id="76" name="Text 13">
            <a:extLst>
              <a:ext uri="{FF2B5EF4-FFF2-40B4-BE49-F238E27FC236}">
                <a16:creationId xmlns:a16="http://schemas.microsoft.com/office/drawing/2014/main" id="{A65CAED2-A78A-5ECE-3D52-92B7838FAEF0}"/>
              </a:ext>
            </a:extLst>
          </p:cNvPr>
          <p:cNvSpPr/>
          <p:nvPr/>
        </p:nvSpPr>
        <p:spPr>
          <a:xfrm>
            <a:off x="9805597" y="1542629"/>
            <a:ext cx="9052601" cy="384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65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campaign rotates at every change point:</a:t>
            </a:r>
            <a:endParaRPr lang="en-US" sz="1950" dirty="0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76E1CC54-5C58-8B75-24A5-86970D45D84B}"/>
              </a:ext>
            </a:extLst>
          </p:cNvPr>
          <p:cNvSpPr/>
          <p:nvPr/>
        </p:nvSpPr>
        <p:spPr>
          <a:xfrm>
            <a:off x="9805597" y="2022662"/>
            <a:ext cx="8229637" cy="2373126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15">
            <a:extLst>
              <a:ext uri="{FF2B5EF4-FFF2-40B4-BE49-F238E27FC236}">
                <a16:creationId xmlns:a16="http://schemas.microsoft.com/office/drawing/2014/main" id="{FC5A0918-812B-6F47-7D2F-4E25AC774E5D}"/>
              </a:ext>
            </a:extLst>
          </p:cNvPr>
          <p:cNvSpPr/>
          <p:nvPr/>
        </p:nvSpPr>
        <p:spPr>
          <a:xfrm>
            <a:off x="10042109" y="2793344"/>
            <a:ext cx="20955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kern="0" spc="1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1</a:t>
            </a:r>
            <a:endParaRPr lang="en-US" sz="1725" dirty="0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A72EBDB2-D115-2232-5842-8B54E9C1767F}"/>
              </a:ext>
            </a:extLst>
          </p:cNvPr>
          <p:cNvSpPr/>
          <p:nvPr/>
        </p:nvSpPr>
        <p:spPr>
          <a:xfrm>
            <a:off x="10042109" y="3081450"/>
            <a:ext cx="2095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1–1000</a:t>
            </a:r>
            <a:endParaRPr lang="en-US" sz="1650" dirty="0"/>
          </a:p>
        </p:txBody>
      </p:sp>
      <p:sp>
        <p:nvSpPr>
          <p:cNvPr id="84" name="Text 17">
            <a:extLst>
              <a:ext uri="{FF2B5EF4-FFF2-40B4-BE49-F238E27FC236}">
                <a16:creationId xmlns:a16="http://schemas.microsoft.com/office/drawing/2014/main" id="{7370BA17-E844-5342-CDFF-898D34E33440}"/>
              </a:ext>
            </a:extLst>
          </p:cNvPr>
          <p:cNvSpPr/>
          <p:nvPr/>
        </p:nvSpPr>
        <p:spPr>
          <a:xfrm>
            <a:off x="10042109" y="3395725"/>
            <a:ext cx="20955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cheapest: </a:t>
            </a:r>
            <a:r>
              <a:rPr lang="en-US" sz="2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800" dirty="0"/>
          </a:p>
        </p:txBody>
      </p:sp>
      <p:pic>
        <p:nvPicPr>
          <p:cNvPr id="86" name="Image 0" descr="preencoded.png">
            <a:extLst>
              <a:ext uri="{FF2B5EF4-FFF2-40B4-BE49-F238E27FC236}">
                <a16:creationId xmlns:a16="http://schemas.microsoft.com/office/drawing/2014/main" id="{2174B3CE-44E0-B24F-A630-893B4C788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6646" y="2485332"/>
            <a:ext cx="5642074" cy="1524000"/>
          </a:xfrm>
          <a:prstGeom prst="rect">
            <a:avLst/>
          </a:prstGeom>
        </p:spPr>
      </p:pic>
      <p:sp>
        <p:nvSpPr>
          <p:cNvPr id="88" name="Shape 18">
            <a:extLst>
              <a:ext uri="{FF2B5EF4-FFF2-40B4-BE49-F238E27FC236}">
                <a16:creationId xmlns:a16="http://schemas.microsoft.com/office/drawing/2014/main" id="{9DE1DCC0-89BB-07D9-9461-A24EBF742CD4}"/>
              </a:ext>
            </a:extLst>
          </p:cNvPr>
          <p:cNvSpPr/>
          <p:nvPr/>
        </p:nvSpPr>
        <p:spPr>
          <a:xfrm>
            <a:off x="9805597" y="4529114"/>
            <a:ext cx="8229637" cy="2373188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A3CC7829-F136-0EB8-0212-563C2BBD4A76}"/>
              </a:ext>
            </a:extLst>
          </p:cNvPr>
          <p:cNvSpPr/>
          <p:nvPr/>
        </p:nvSpPr>
        <p:spPr>
          <a:xfrm>
            <a:off x="10042109" y="5299795"/>
            <a:ext cx="20955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kern="0" spc="1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2</a:t>
            </a:r>
            <a:endParaRPr lang="en-US" sz="1725" dirty="0"/>
          </a:p>
        </p:txBody>
      </p:sp>
      <p:sp>
        <p:nvSpPr>
          <p:cNvPr id="92" name="Text 20">
            <a:extLst>
              <a:ext uri="{FF2B5EF4-FFF2-40B4-BE49-F238E27FC236}">
                <a16:creationId xmlns:a16="http://schemas.microsoft.com/office/drawing/2014/main" id="{F29282CE-2C00-86A0-45F1-819386BDA99C}"/>
              </a:ext>
            </a:extLst>
          </p:cNvPr>
          <p:cNvSpPr/>
          <p:nvPr/>
        </p:nvSpPr>
        <p:spPr>
          <a:xfrm>
            <a:off x="10042109" y="5587901"/>
            <a:ext cx="2095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1001–2000</a:t>
            </a:r>
            <a:endParaRPr lang="en-US" sz="1650" dirty="0"/>
          </a:p>
        </p:txBody>
      </p:sp>
      <p:sp>
        <p:nvSpPr>
          <p:cNvPr id="94" name="Text 21">
            <a:extLst>
              <a:ext uri="{FF2B5EF4-FFF2-40B4-BE49-F238E27FC236}">
                <a16:creationId xmlns:a16="http://schemas.microsoft.com/office/drawing/2014/main" id="{6064D538-BD9D-3089-9A56-C93B80577979}"/>
              </a:ext>
            </a:extLst>
          </p:cNvPr>
          <p:cNvSpPr/>
          <p:nvPr/>
        </p:nvSpPr>
        <p:spPr>
          <a:xfrm>
            <a:off x="10042109" y="5902177"/>
            <a:ext cx="20955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cheapest: </a:t>
            </a:r>
            <a:r>
              <a:rPr lang="en-US" sz="2100" b="1" dirty="0">
                <a:solidFill>
                  <a:srgbClr val="C65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800" dirty="0"/>
          </a:p>
        </p:txBody>
      </p:sp>
      <p:pic>
        <p:nvPicPr>
          <p:cNvPr id="96" name="Image 1" descr="preencoded.png">
            <a:extLst>
              <a:ext uri="{FF2B5EF4-FFF2-40B4-BE49-F238E27FC236}">
                <a16:creationId xmlns:a16="http://schemas.microsoft.com/office/drawing/2014/main" id="{7B13355E-4D67-284A-1C0A-BDC98B781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6646" y="4991783"/>
            <a:ext cx="5642074" cy="1524000"/>
          </a:xfrm>
          <a:prstGeom prst="rect">
            <a:avLst/>
          </a:prstGeom>
        </p:spPr>
      </p:pic>
      <p:sp>
        <p:nvSpPr>
          <p:cNvPr id="98" name="Shape 22">
            <a:extLst>
              <a:ext uri="{FF2B5EF4-FFF2-40B4-BE49-F238E27FC236}">
                <a16:creationId xmlns:a16="http://schemas.microsoft.com/office/drawing/2014/main" id="{C7B4CA4F-6CEF-E73B-1958-92A7483F7963}"/>
              </a:ext>
            </a:extLst>
          </p:cNvPr>
          <p:cNvSpPr/>
          <p:nvPr/>
        </p:nvSpPr>
        <p:spPr>
          <a:xfrm>
            <a:off x="9805597" y="7035627"/>
            <a:ext cx="8229637" cy="2373126"/>
          </a:xfrm>
          <a:prstGeom prst="rect">
            <a:avLst/>
          </a:prstGeom>
          <a:solidFill>
            <a:srgbClr val="FFFFFF"/>
          </a:solidFill>
          <a:ln w="7937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23">
            <a:extLst>
              <a:ext uri="{FF2B5EF4-FFF2-40B4-BE49-F238E27FC236}">
                <a16:creationId xmlns:a16="http://schemas.microsoft.com/office/drawing/2014/main" id="{E42479ED-3E59-BEA0-FA4F-44AAF7D2561E}"/>
              </a:ext>
            </a:extLst>
          </p:cNvPr>
          <p:cNvSpPr/>
          <p:nvPr/>
        </p:nvSpPr>
        <p:spPr>
          <a:xfrm>
            <a:off x="10042109" y="7806309"/>
            <a:ext cx="2095500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kern="0" spc="1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 3</a:t>
            </a:r>
            <a:endParaRPr lang="en-US" sz="1725" dirty="0"/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BE75B6D9-10F3-311E-C024-AEA022DD9D9C}"/>
              </a:ext>
            </a:extLst>
          </p:cNvPr>
          <p:cNvSpPr/>
          <p:nvPr/>
        </p:nvSpPr>
        <p:spPr>
          <a:xfrm>
            <a:off x="10042109" y="8094415"/>
            <a:ext cx="20955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2001–3000</a:t>
            </a:r>
            <a:endParaRPr lang="en-US" sz="1650" dirty="0"/>
          </a:p>
        </p:txBody>
      </p:sp>
      <p:sp>
        <p:nvSpPr>
          <p:cNvPr id="104" name="Text 25">
            <a:extLst>
              <a:ext uri="{FF2B5EF4-FFF2-40B4-BE49-F238E27FC236}">
                <a16:creationId xmlns:a16="http://schemas.microsoft.com/office/drawing/2014/main" id="{3BAE02BB-5CB7-5D13-3072-48CDDB7F6A4E}"/>
              </a:ext>
            </a:extLst>
          </p:cNvPr>
          <p:cNvSpPr/>
          <p:nvPr/>
        </p:nvSpPr>
        <p:spPr>
          <a:xfrm>
            <a:off x="10042109" y="8408691"/>
            <a:ext cx="20955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28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cheapest: </a:t>
            </a:r>
            <a:r>
              <a:rPr lang="en-US" sz="2100" b="1" dirty="0">
                <a:solidFill>
                  <a:srgbClr val="4E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800" dirty="0"/>
          </a:p>
        </p:txBody>
      </p:sp>
      <p:pic>
        <p:nvPicPr>
          <p:cNvPr id="106" name="Image 2" descr="preencoded.png">
            <a:extLst>
              <a:ext uri="{FF2B5EF4-FFF2-40B4-BE49-F238E27FC236}">
                <a16:creationId xmlns:a16="http://schemas.microsoft.com/office/drawing/2014/main" id="{2CF8D630-4C16-7266-8323-80BEBA248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56646" y="7498296"/>
            <a:ext cx="5642074" cy="1524000"/>
          </a:xfrm>
          <a:prstGeom prst="rect">
            <a:avLst/>
          </a:prstGeom>
        </p:spPr>
      </p:pic>
      <p:sp>
        <p:nvSpPr>
          <p:cNvPr id="108" name="Text 26">
            <a:extLst>
              <a:ext uri="{FF2B5EF4-FFF2-40B4-BE49-F238E27FC236}">
                <a16:creationId xmlns:a16="http://schemas.microsoft.com/office/drawing/2014/main" id="{12C431F0-F8D3-3E72-23CA-4787D35C18FA}"/>
              </a:ext>
            </a:extLst>
          </p:cNvPr>
          <p:cNvSpPr/>
          <p:nvPr/>
        </p:nvSpPr>
        <p:spPr>
          <a:xfrm>
            <a:off x="9805597" y="9542079"/>
            <a:ext cx="2937656" cy="331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of m</a:t>
            </a:r>
            <a:r>
              <a:rPr lang="en-US" sz="1438" baseline="-40000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en-US" sz="1725" dirty="0">
                <a:solidFill>
                  <a:srgbClr val="5F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x: 0 to 1</a:t>
            </a:r>
            <a:endParaRPr lang="en-US" sz="1725" dirty="0"/>
          </a:p>
        </p:txBody>
      </p:sp>
      <p:sp>
        <p:nvSpPr>
          <p:cNvPr id="110" name="Shape 27">
            <a:extLst>
              <a:ext uri="{FF2B5EF4-FFF2-40B4-BE49-F238E27FC236}">
                <a16:creationId xmlns:a16="http://schemas.microsoft.com/office/drawing/2014/main" id="{43C200BB-5FC8-7008-7CAA-05478404AD11}"/>
              </a:ext>
            </a:extLst>
          </p:cNvPr>
          <p:cNvSpPr/>
          <p:nvPr/>
        </p:nvSpPr>
        <p:spPr>
          <a:xfrm>
            <a:off x="14869176" y="9643282"/>
            <a:ext cx="247613" cy="476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2" name="Text 28">
            <a:extLst>
              <a:ext uri="{FF2B5EF4-FFF2-40B4-BE49-F238E27FC236}">
                <a16:creationId xmlns:a16="http://schemas.microsoft.com/office/drawing/2014/main" id="{0E0086C7-1A10-95AE-2CC7-7D39636BC8EF}"/>
              </a:ext>
            </a:extLst>
          </p:cNvPr>
          <p:cNvSpPr/>
          <p:nvPr/>
        </p:nvSpPr>
        <p:spPr>
          <a:xfrm>
            <a:off x="15192939" y="9542079"/>
            <a:ext cx="33919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1725" dirty="0"/>
          </a:p>
        </p:txBody>
      </p:sp>
      <p:sp>
        <p:nvSpPr>
          <p:cNvPr id="114" name="Shape 29">
            <a:extLst>
              <a:ext uri="{FF2B5EF4-FFF2-40B4-BE49-F238E27FC236}">
                <a16:creationId xmlns:a16="http://schemas.microsoft.com/office/drawing/2014/main" id="{61C1ABD5-6E85-B6D9-E992-5836DCEE478D}"/>
              </a:ext>
            </a:extLst>
          </p:cNvPr>
          <p:cNvSpPr/>
          <p:nvPr/>
        </p:nvSpPr>
        <p:spPr>
          <a:xfrm>
            <a:off x="15703544" y="9643282"/>
            <a:ext cx="247613" cy="47625"/>
          </a:xfrm>
          <a:prstGeom prst="rect">
            <a:avLst/>
          </a:prstGeom>
          <a:solidFill>
            <a:srgbClr val="C65D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6" name="Text 30">
            <a:extLst>
              <a:ext uri="{FF2B5EF4-FFF2-40B4-BE49-F238E27FC236}">
                <a16:creationId xmlns:a16="http://schemas.microsoft.com/office/drawing/2014/main" id="{04457B87-EDC2-03AC-CC80-D2E17B47CB6E}"/>
              </a:ext>
            </a:extLst>
          </p:cNvPr>
          <p:cNvSpPr/>
          <p:nvPr/>
        </p:nvSpPr>
        <p:spPr>
          <a:xfrm>
            <a:off x="16027307" y="9542079"/>
            <a:ext cx="33919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</a:t>
            </a:r>
            <a:endParaRPr lang="en-US" sz="1725" dirty="0"/>
          </a:p>
        </p:txBody>
      </p:sp>
      <p:sp>
        <p:nvSpPr>
          <p:cNvPr id="118" name="Shape 31">
            <a:extLst>
              <a:ext uri="{FF2B5EF4-FFF2-40B4-BE49-F238E27FC236}">
                <a16:creationId xmlns:a16="http://schemas.microsoft.com/office/drawing/2014/main" id="{F25FE838-5E0B-11A4-8467-BE51EE85A9BF}"/>
              </a:ext>
            </a:extLst>
          </p:cNvPr>
          <p:cNvSpPr/>
          <p:nvPr/>
        </p:nvSpPr>
        <p:spPr>
          <a:xfrm>
            <a:off x="16537911" y="9643282"/>
            <a:ext cx="247613" cy="47625"/>
          </a:xfrm>
          <a:prstGeom prst="rect">
            <a:avLst/>
          </a:prstGeom>
          <a:solidFill>
            <a:srgbClr val="4E8F7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0" name="Text 32">
            <a:extLst>
              <a:ext uri="{FF2B5EF4-FFF2-40B4-BE49-F238E27FC236}">
                <a16:creationId xmlns:a16="http://schemas.microsoft.com/office/drawing/2014/main" id="{7A2FB0AB-0901-712B-6C5F-88197CA45CFA}"/>
              </a:ext>
            </a:extLst>
          </p:cNvPr>
          <p:cNvSpPr/>
          <p:nvPr/>
        </p:nvSpPr>
        <p:spPr>
          <a:xfrm>
            <a:off x="16861674" y="9542079"/>
            <a:ext cx="33919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</a:t>
            </a:r>
            <a:endParaRPr lang="en-US" sz="1725" dirty="0"/>
          </a:p>
        </p:txBody>
      </p:sp>
      <p:sp>
        <p:nvSpPr>
          <p:cNvPr id="122" name="Shape 33">
            <a:extLst>
              <a:ext uri="{FF2B5EF4-FFF2-40B4-BE49-F238E27FC236}">
                <a16:creationId xmlns:a16="http://schemas.microsoft.com/office/drawing/2014/main" id="{685343F9-EAEC-20A6-7B30-4DB418BF8094}"/>
              </a:ext>
            </a:extLst>
          </p:cNvPr>
          <p:cNvSpPr/>
          <p:nvPr/>
        </p:nvSpPr>
        <p:spPr>
          <a:xfrm>
            <a:off x="17372279" y="9643282"/>
            <a:ext cx="247613" cy="47625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4" name="Text 34">
            <a:extLst>
              <a:ext uri="{FF2B5EF4-FFF2-40B4-BE49-F238E27FC236}">
                <a16:creationId xmlns:a16="http://schemas.microsoft.com/office/drawing/2014/main" id="{D9EEDA41-D045-6CCD-1308-3602262B3DA7}"/>
              </a:ext>
            </a:extLst>
          </p:cNvPr>
          <p:cNvSpPr/>
          <p:nvPr/>
        </p:nvSpPr>
        <p:spPr>
          <a:xfrm>
            <a:off x="17696042" y="9542079"/>
            <a:ext cx="339192" cy="288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F6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C4</a:t>
            </a:r>
            <a:endParaRPr lang="en-US" sz="17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LAB-ALIGNED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all hyperparameters from course formulas, Υ</a:t>
            </a:r>
            <a:r>
              <a:rPr lang="en-US" sz="1500" baseline="-400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</a:t>
            </a: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known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590800"/>
            <a:ext cx="5308521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8031480"/>
            <a:ext cx="5308521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52500" y="2590800"/>
            <a:ext cx="5308521" cy="53340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52500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253401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45870" y="2891790"/>
            <a:ext cx="51939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FORGETS BY CONSTRUCTION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5870" y="3322320"/>
            <a:ext cx="5193959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SW-UCB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45870" y="3890010"/>
            <a:ext cx="11049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discarded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53251" y="3890010"/>
            <a:ext cx="990600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 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45870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612702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979652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346484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2713434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080266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3447217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CDD7E2">
              <a:alpha val="5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3814048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80999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4547830" y="4217670"/>
            <a:ext cx="319326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4914781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5281613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5648444" y="4217670"/>
            <a:ext cx="319207" cy="247650"/>
          </a:xfrm>
          <a:prstGeom prst="roundRect">
            <a:avLst>
              <a:gd name="adj" fmla="val 15385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245870" y="4598670"/>
            <a:ext cx="4863434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cache of the last W rounds only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bonus computed with log W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arm unseen in window: one forced pull</a:t>
            </a:r>
            <a:endParaRPr lang="en-US" sz="18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7450812"/>
            <a:ext cx="3357444" cy="3200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489621" y="2590800"/>
            <a:ext cx="5308640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7"/>
          <p:cNvSpPr/>
          <p:nvPr/>
        </p:nvSpPr>
        <p:spPr>
          <a:xfrm>
            <a:off x="6489621" y="8031480"/>
            <a:ext cx="530864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6489621" y="2590800"/>
            <a:ext cx="5308640" cy="53340"/>
          </a:xfrm>
          <a:prstGeom prst="rect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6489621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0"/>
          <p:cNvSpPr/>
          <p:nvPr/>
        </p:nvSpPr>
        <p:spPr>
          <a:xfrm>
            <a:off x="11790641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6782991" y="289179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DETECTS, THEN RESETS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782991" y="3322320"/>
            <a:ext cx="519409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CUSUM-UCB</a:t>
            </a:r>
            <a:endParaRPr lang="en-US" sz="24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2991" y="3985260"/>
            <a:ext cx="4721900" cy="6096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782991" y="4728210"/>
            <a:ext cx="4863557" cy="2164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 reference samples per arm → mean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statistic accumulates deviations; over h → arm reset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α-exploration keeps arms monitored</a:t>
            </a:r>
            <a:endParaRPr lang="en-US" sz="180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991" y="7463790"/>
            <a:ext cx="3402568" cy="32004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12026860" y="2590800"/>
            <a:ext cx="5308640" cy="544830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Shape 35"/>
          <p:cNvSpPr/>
          <p:nvPr/>
        </p:nvSpPr>
        <p:spPr>
          <a:xfrm>
            <a:off x="12026860" y="8031480"/>
            <a:ext cx="530864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Shape 36"/>
          <p:cNvSpPr/>
          <p:nvPr/>
        </p:nvSpPr>
        <p:spPr>
          <a:xfrm>
            <a:off x="12026860" y="2590800"/>
            <a:ext cx="5308640" cy="53340"/>
          </a:xfrm>
          <a:prstGeom prst="rect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2" name="Shape 37"/>
          <p:cNvSpPr/>
          <p:nvPr/>
        </p:nvSpPr>
        <p:spPr>
          <a:xfrm>
            <a:off x="12026860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3" name="Shape 38"/>
          <p:cNvSpPr/>
          <p:nvPr/>
        </p:nvSpPr>
        <p:spPr>
          <a:xfrm>
            <a:off x="17327880" y="2590800"/>
            <a:ext cx="9525" cy="544830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39"/>
          <p:cNvSpPr/>
          <p:nvPr/>
        </p:nvSpPr>
        <p:spPr>
          <a:xfrm>
            <a:off x="12320231" y="289179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NEVER FORGETS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12320231" y="3322320"/>
            <a:ext cx="5194090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</a:t>
            </a:r>
            <a:endParaRPr lang="en-US" sz="24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0231" y="3851910"/>
            <a:ext cx="3298269" cy="32004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12320231" y="4308991"/>
            <a:ext cx="4863557" cy="2518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Hedge on K = 168 super-actions, full feedback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OGD on the dual λ (budget price)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gains normalized in [0,1], per-action budget stop</a:t>
            </a:r>
            <a:endParaRPr lang="en-US" sz="18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20231" y="7446883"/>
            <a:ext cx="3659029" cy="320040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952500" y="8305800"/>
            <a:ext cx="16383000" cy="1257300"/>
          </a:xfrm>
          <a:prstGeom prst="roundRect">
            <a:avLst>
              <a:gd name="adj" fmla="val 909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3"/>
          <p:cNvSpPr/>
          <p:nvPr/>
        </p:nvSpPr>
        <p:spPr>
          <a:xfrm>
            <a:off x="1257300" y="8785860"/>
            <a:ext cx="4983099" cy="33528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SHARED DECISION LAYER (REQ 2)</a:t>
            </a:r>
            <a:endParaRPr lang="en-US" sz="1800" dirty="0"/>
          </a:p>
        </p:txBody>
      </p:sp>
      <p:sp>
        <p:nvSpPr>
          <p:cNvPr id="51" name="Text 44"/>
          <p:cNvSpPr/>
          <p:nvPr/>
        </p:nvSpPr>
        <p:spPr>
          <a:xfrm>
            <a:off x="6054090" y="8534400"/>
            <a:ext cx="1130590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UCBs feed reward UCB + cost LCB into an LP over the super-action simplex, cap ρ = B/T fixed.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LAB-ALIGNED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Baseline, Course Formulas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trials · final gap vs segment-local oracle ≈ 1229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506980"/>
            <a:ext cx="9646920" cy="6393180"/>
          </a:xfrm>
          <a:prstGeom prst="roundRect">
            <a:avLst>
              <a:gd name="adj" fmla="val 1788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868" b="-868"/>
          <a:stretch/>
        </p:blipFill>
        <p:spPr>
          <a:xfrm>
            <a:off x="1112520" y="2667000"/>
            <a:ext cx="9326880" cy="60731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796" y="9014460"/>
            <a:ext cx="9936327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Mean over 30 trials, shaded SEM · dashed lines: change points · dotted: oracles and budget.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0904220" y="2506980"/>
            <a:ext cx="6431280" cy="1767840"/>
          </a:xfrm>
          <a:prstGeom prst="roundRect">
            <a:avLst>
              <a:gd name="adj" fmla="val 6466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1159490" y="2747010"/>
            <a:ext cx="19907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SW-UCB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121640" y="27241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3121640" y="2724150"/>
            <a:ext cx="3107412" cy="342900"/>
          </a:xfrm>
          <a:prstGeom prst="roundRect">
            <a:avLst>
              <a:gd name="adj" fmla="val 16667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5684223" y="2747010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159490" y="3242310"/>
            <a:ext cx="19907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CUSUM-UCB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3121640" y="32194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13121640" y="3219450"/>
            <a:ext cx="2945130" cy="342900"/>
          </a:xfrm>
          <a:prstGeom prst="roundRect">
            <a:avLst>
              <a:gd name="adj" fmla="val 16667"/>
            </a:avLst>
          </a:prstGeom>
          <a:solidFill>
            <a:srgbClr val="FF7F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5521940" y="3242310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159490" y="3737610"/>
            <a:ext cx="199072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3121640" y="37147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13121640" y="3714750"/>
            <a:ext cx="3958590" cy="342900"/>
          </a:xfrm>
          <a:prstGeom prst="roundRect">
            <a:avLst>
              <a:gd name="adj" fmla="val 16667"/>
            </a:avLst>
          </a:prstGeom>
          <a:solidFill>
            <a:srgbClr val="2CA0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16535400" y="3737610"/>
            <a:ext cx="487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716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904220" y="4446270"/>
            <a:ext cx="6431280" cy="5116830"/>
          </a:xfrm>
          <a:prstGeom prst="roundRect">
            <a:avLst>
              <a:gd name="adj" fmla="val 2234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11178540" y="4682490"/>
            <a:ext cx="647090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PROBLEMS TO FIX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1178540" y="5132070"/>
            <a:ext cx="605912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① both UCBs spend all of B, but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early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cost LCB understates costs, fixed ρ never corrects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178540" y="5993130"/>
            <a:ext cx="605912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② primal-dual leaves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167 of 560 unused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infinite memory, conservative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178540" y="6854190"/>
            <a:ext cx="6059120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③ CUSUM fires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~18 resets vs 54 reference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too few samples per arm to reach h ≈ 14.6 (no hand-tuning of h)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EXTENSION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Improved Version: Three Declared Changes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same environment, same benchmarks, same seeds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545080"/>
            <a:ext cx="5308521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245870" y="2800350"/>
            <a:ext cx="519395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WIDER WINDOW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3230880"/>
            <a:ext cx="2300407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5870" y="3737134"/>
            <a:ext cx="4863434" cy="2872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half a segment: widest window that stays comfortably stationary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more samples per arm in the combinatorial setting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derived from known quantities,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tuning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245870" y="6998970"/>
            <a:ext cx="4721781" cy="1062990"/>
          </a:xfrm>
          <a:prstGeom prst="roundRect">
            <a:avLst>
              <a:gd name="adj" fmla="val 8333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398270" y="7113270"/>
            <a:ext cx="4558634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3A5F"/>
                </a:solidFill>
                <a:highlight>
                  <a:srgbClr val="E8EEF5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ablation, 30 trials each: gap </a:t>
            </a: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496 → 417 </a:t>
            </a:r>
            <a:r>
              <a:rPr lang="en-US" sz="1800" dirty="0">
                <a:solidFill>
                  <a:srgbClr val="1E3A5F"/>
                </a:solidFill>
                <a:highlight>
                  <a:srgbClr val="E8EEF5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W = 219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89621" y="2545080"/>
            <a:ext cx="5308640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782991" y="280035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EMPIRICAL COST</a:t>
            </a:r>
            <a:endParaRPr lang="en-US" sz="1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2991" y="3230880"/>
            <a:ext cx="1391841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82991" y="3737134"/>
            <a:ext cx="4863557" cy="110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replaces the cost LCB in the LP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fixes the early budget exhaustion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782991" y="6998970"/>
            <a:ext cx="4721900" cy="1062990"/>
          </a:xfrm>
          <a:prstGeom prst="roundRect">
            <a:avLst>
              <a:gd name="adj" fmla="val 8333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2"/>
          <p:cNvSpPr/>
          <p:nvPr/>
        </p:nvSpPr>
        <p:spPr>
          <a:xfrm>
            <a:off x="6935391" y="7113270"/>
            <a:ext cx="455875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E3A5F"/>
                </a:solidFill>
                <a:highlight>
                  <a:srgbClr val="E8EEF5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supported by the Req 2 ablation: pseudo-regret </a:t>
            </a: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 vs 166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2026860" y="2545080"/>
            <a:ext cx="5308640" cy="562356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12320231" y="2800350"/>
            <a:ext cx="51940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DYNAMIC PACING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0231" y="3230880"/>
            <a:ext cx="2285524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20231" y="3737134"/>
            <a:ext cx="4863557" cy="1455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LP cap = remaining budget / remaining rounds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recovers spend drift around change points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12320231" y="7341869"/>
            <a:ext cx="4721900" cy="664369"/>
          </a:xfrm>
          <a:prstGeom prst="roundRect">
            <a:avLst>
              <a:gd name="adj" fmla="val 13333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17"/>
          <p:cNvSpPr/>
          <p:nvPr/>
        </p:nvSpPr>
        <p:spPr>
          <a:xfrm>
            <a:off x="12472631" y="7456170"/>
            <a:ext cx="45587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E3A5F"/>
                </a:solidFill>
                <a:highlight>
                  <a:srgbClr val="E8EEF5"/>
                </a:highlight>
                <a:latin typeface="IBM Plex Sans" pitchFamily="34" charset="0"/>
              </a:rPr>
              <a:t>same modification used in </a:t>
            </a:r>
            <a:r>
              <a:rPr lang="en-US" b="1" dirty="0">
                <a:solidFill>
                  <a:srgbClr val="1E3A5F"/>
                </a:solidFill>
                <a:highlight>
                  <a:srgbClr val="E8EEF5"/>
                </a:highlight>
                <a:latin typeface="IBM Plex Sans" pitchFamily="34" charset="0"/>
              </a:rPr>
              <a:t>Req 2</a:t>
            </a:r>
          </a:p>
        </p:txBody>
      </p:sp>
      <p:sp>
        <p:nvSpPr>
          <p:cNvPr id="23" name="Shape 18"/>
          <p:cNvSpPr/>
          <p:nvPr/>
        </p:nvSpPr>
        <p:spPr>
          <a:xfrm>
            <a:off x="952500" y="8435340"/>
            <a:ext cx="8077200" cy="1127760"/>
          </a:xfrm>
          <a:prstGeom prst="roundRect">
            <a:avLst>
              <a:gd name="adj" fmla="val 10135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1219200" y="8644890"/>
            <a:ext cx="778611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CUSUM UNCHANGED </a:t>
            </a:r>
            <a:r>
              <a:rPr lang="en-US" sz="18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detector keeps the course formulas; only the decision layer changes (02, 03).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9258300" y="8435340"/>
            <a:ext cx="8077200" cy="1127760"/>
          </a:xfrm>
          <a:prstGeom prst="roundRect">
            <a:avLst>
              <a:gd name="adj" fmla="val 10135"/>
            </a:avLst>
          </a:prstGeom>
          <a:solidFill>
            <a:srgbClr val="F3E7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1"/>
          <p:cNvSpPr/>
          <p:nvPr/>
        </p:nvSpPr>
        <p:spPr>
          <a:xfrm>
            <a:off x="9525000" y="8644890"/>
            <a:ext cx="7786116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 UPGRADED </a:t>
            </a:r>
            <a:r>
              <a:rPr lang="en-US" sz="18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Req 3 theoretical rates, so each method enters the comparison in its best version.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RESULTS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Results of the Improved Version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trials · same seeds · budget respected in every trial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506980"/>
            <a:ext cx="9774913" cy="7056120"/>
          </a:xfrm>
          <a:prstGeom prst="roundRect">
            <a:avLst>
              <a:gd name="adj" fmla="val 1620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5657" b="-5657"/>
          <a:stretch/>
        </p:blipFill>
        <p:spPr>
          <a:xfrm>
            <a:off x="1112520" y="2667000"/>
            <a:ext cx="9454872" cy="673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32213" y="2506980"/>
            <a:ext cx="69336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 GAP, BASELINE → IMPROVED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1032213" y="2918460"/>
            <a:ext cx="6303288" cy="1815465"/>
          </a:xfrm>
          <a:prstGeom prst="roundRect">
            <a:avLst>
              <a:gd name="adj" fmla="val 629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11032213" y="4726305"/>
            <a:ext cx="6303288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11032213" y="2918460"/>
            <a:ext cx="6303288" cy="53340"/>
          </a:xfrm>
          <a:prstGeom prst="rect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1032213" y="2918460"/>
            <a:ext cx="9525" cy="181546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17327881" y="2918460"/>
            <a:ext cx="9525" cy="181546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1268432" y="3166110"/>
            <a:ext cx="159205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CUSUM-UCB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2849106" y="3105150"/>
            <a:ext cx="179374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7F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533 → 345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1268432" y="3577590"/>
            <a:ext cx="4338042" cy="114300"/>
          </a:xfrm>
          <a:prstGeom prst="roundRect">
            <a:avLst>
              <a:gd name="adj" fmla="val 33333"/>
            </a:avLst>
          </a:prstGeom>
          <a:solidFill>
            <a:srgbClr val="FF7F0E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11268432" y="3739515"/>
            <a:ext cx="2810351" cy="114300"/>
          </a:xfrm>
          <a:prstGeom prst="roundRect">
            <a:avLst>
              <a:gd name="adj" fmla="val 33333"/>
            </a:avLst>
          </a:prstGeom>
          <a:solidFill>
            <a:srgbClr val="FF7F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11268432" y="3930015"/>
            <a:ext cx="6005774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method; resets concentrate near the true change points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032213" y="4848225"/>
            <a:ext cx="6303288" cy="1483995"/>
          </a:xfrm>
          <a:prstGeom prst="roundRect">
            <a:avLst>
              <a:gd name="adj" fmla="val 77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11032213" y="6324600"/>
            <a:ext cx="6303288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11032213" y="4848225"/>
            <a:ext cx="6303288" cy="53340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11032213" y="4848225"/>
            <a:ext cx="9525" cy="148399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17327881" y="4848225"/>
            <a:ext cx="9525" cy="148399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11268432" y="5095875"/>
            <a:ext cx="1050608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SW-UCB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12376190" y="5034915"/>
            <a:ext cx="179374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77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562 → 417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1268432" y="5507355"/>
            <a:ext cx="4577120" cy="114300"/>
          </a:xfrm>
          <a:prstGeom prst="roundRect">
            <a:avLst>
              <a:gd name="adj" fmla="val 33333"/>
            </a:avLst>
          </a:prstGeom>
          <a:solidFill>
            <a:srgbClr val="1F77B4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11268432" y="5669280"/>
            <a:ext cx="3393519" cy="114300"/>
          </a:xfrm>
          <a:prstGeom prst="roundRect">
            <a:avLst>
              <a:gd name="adj" fmla="val 33333"/>
            </a:avLst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11268432" y="5859780"/>
            <a:ext cx="641393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wider window, empirical cost, dynamic pacing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032213" y="6446520"/>
            <a:ext cx="6303288" cy="1483995"/>
          </a:xfrm>
          <a:prstGeom prst="roundRect">
            <a:avLst>
              <a:gd name="adj" fmla="val 77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26"/>
          <p:cNvSpPr/>
          <p:nvPr/>
        </p:nvSpPr>
        <p:spPr>
          <a:xfrm>
            <a:off x="11032213" y="7922895"/>
            <a:ext cx="6303288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Shape 27"/>
          <p:cNvSpPr/>
          <p:nvPr/>
        </p:nvSpPr>
        <p:spPr>
          <a:xfrm>
            <a:off x="11032213" y="6446520"/>
            <a:ext cx="6303288" cy="53340"/>
          </a:xfrm>
          <a:prstGeom prst="rect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11032213" y="6446520"/>
            <a:ext cx="9525" cy="148399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17327881" y="6446520"/>
            <a:ext cx="9525" cy="148399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11268432" y="6694170"/>
            <a:ext cx="1493699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2759690" y="6633210"/>
            <a:ext cx="179374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A0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716 → 660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11268432" y="7105650"/>
            <a:ext cx="5830848" cy="114300"/>
          </a:xfrm>
          <a:prstGeom prst="roundRect">
            <a:avLst>
              <a:gd name="adj" fmla="val 33333"/>
            </a:avLst>
          </a:prstGeom>
          <a:solidFill>
            <a:srgbClr val="2CA02C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6" name="Shape 33"/>
          <p:cNvSpPr/>
          <p:nvPr/>
        </p:nvSpPr>
        <p:spPr>
          <a:xfrm>
            <a:off x="11268432" y="7267575"/>
            <a:ext cx="5376029" cy="114300"/>
          </a:xfrm>
          <a:prstGeom prst="roundRect">
            <a:avLst>
              <a:gd name="adj" fmla="val 33333"/>
            </a:avLst>
          </a:prstGeom>
          <a:solidFill>
            <a:srgbClr val="2CA0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11268432" y="7458075"/>
            <a:ext cx="6413933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5F6F8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theoretical rates; still leaves 211 of 560 unused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1032213" y="8044815"/>
            <a:ext cx="6492387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Light bar: baseline · solid bar: improved · scale up to 716.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11032213" y="8662035"/>
            <a:ext cx="6303288" cy="1333500"/>
          </a:xfrm>
          <a:prstGeom prst="roundRect">
            <a:avLst>
              <a:gd name="adj" fmla="val 8571"/>
            </a:avLst>
          </a:prstGeom>
          <a:solidFill>
            <a:srgbClr val="E8EEF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11260813" y="8814435"/>
            <a:ext cx="603518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Spend now </a:t>
            </a: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reaches the horizon </a:t>
            </a:r>
            <a:r>
              <a:rPr lang="en-US" sz="18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(pacing + empirical cost); the wider window fixes the sample side. CUSUM resets: </a:t>
            </a:r>
            <a:r>
              <a:rPr lang="en-US" sz="18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~18 → ~32 </a:t>
            </a:r>
            <a:r>
              <a:rPr lang="en-US" sz="1800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trial.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7620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25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REQUIREMENT 4 · COMPARISON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73480"/>
            <a:ext cx="180213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E3A5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Comparison and Limits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1943100"/>
            <a:ext cx="180213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6F8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average gap per round, improved versions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2526030"/>
            <a:ext cx="5308521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52500" y="4408170"/>
            <a:ext cx="5308521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52500" y="2526030"/>
            <a:ext cx="5308521" cy="76200"/>
          </a:xfrm>
          <a:prstGeom prst="rect">
            <a:avLst/>
          </a:prstGeom>
          <a:solidFill>
            <a:srgbClr val="FF7F0E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52500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6253401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26820" y="2811780"/>
            <a:ext cx="523586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7F0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0.115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226820" y="3535680"/>
            <a:ext cx="4902677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CUSUM-UCB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best: active resets refresh stats after each change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89621" y="2526030"/>
            <a:ext cx="5308640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6489621" y="4408170"/>
            <a:ext cx="530864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489621" y="2526030"/>
            <a:ext cx="5308640" cy="76200"/>
          </a:xfrm>
          <a:prstGeom prst="rect">
            <a:avLst/>
          </a:prstGeom>
          <a:solidFill>
            <a:srgbClr val="1F77B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489621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11790641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763941" y="2811780"/>
            <a:ext cx="523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1F77B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0.139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6763941" y="3535680"/>
            <a:ext cx="4902800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SW-UCB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passive forgetting pays a fixed variance price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26860" y="2526030"/>
            <a:ext cx="5308640" cy="1889760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12026860" y="4408170"/>
            <a:ext cx="5308640" cy="9525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12026860" y="2526030"/>
            <a:ext cx="5308640" cy="76200"/>
          </a:xfrm>
          <a:prstGeom prst="rect">
            <a:avLst/>
          </a:prstGeom>
          <a:solidFill>
            <a:srgbClr val="2CA02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12026860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7327880" y="2526030"/>
            <a:ext cx="9525" cy="1889760"/>
          </a:xfrm>
          <a:prstGeom prst="rect">
            <a:avLst/>
          </a:prstGeom>
          <a:solidFill>
            <a:srgbClr val="D9DFE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2301181" y="2811780"/>
            <a:ext cx="5236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CA0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0.220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12301181" y="3535680"/>
            <a:ext cx="52360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Primal-dual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0.239 with lab constants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4682490"/>
            <a:ext cx="8896826" cy="4880610"/>
          </a:xfrm>
          <a:prstGeom prst="roundRect">
            <a:avLst>
              <a:gd name="adj" fmla="val 2342"/>
            </a:avLst>
          </a:prstGeom>
          <a:solidFill>
            <a:srgbClr val="FFFFFF"/>
          </a:solidFill>
          <a:ln w="7620">
            <a:solidFill>
              <a:srgbClr val="D9DFE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245870" y="4937760"/>
            <a:ext cx="9141095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1E3A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TAKEAWAYS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5870" y="5368290"/>
            <a:ext cx="91410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non-stationary UCBs clearly beat the primal-dual; CUSUM slightly ahead of SW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5870" y="5844540"/>
            <a:ext cx="91410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primal-dual chases the best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</a:t>
            </a: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distribution: wrong target on three segments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45870" y="6320790"/>
            <a:ext cx="85593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theoretical rates move it only 716 → 660, and 211 of 560 stay unused: the limit is </a:t>
            </a:r>
            <a:r>
              <a:rPr lang="en-US" sz="1800" b="1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structural, not tuning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45870" y="7139940"/>
            <a:ext cx="855938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semi-windowed primal-dual tried and discarded: better than full, still below both UCBs, outside the course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116027" y="4682490"/>
            <a:ext cx="7219474" cy="4880610"/>
          </a:xfrm>
          <a:prstGeom prst="roundRect">
            <a:avLst>
              <a:gd name="adj" fmla="val 2342"/>
            </a:avLst>
          </a:prstGeom>
          <a:solidFill>
            <a:srgbClr val="F3E7E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0401777" y="4930140"/>
            <a:ext cx="731277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50" dirty="0">
                <a:solidFill>
                  <a:srgbClr val="C65D3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401777" y="5360670"/>
            <a:ext cx="684741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CUSUM with course formulas stays weakly reactive with many arms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01777" y="6179820"/>
            <a:ext cx="684741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the segment-global oracle (moves budget across segments) is out of reach for every online learner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01777" y="6998970"/>
            <a:ext cx="684741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1628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the gap does not vanish: repeated exploration after each change grows with the number of arms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17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/>
          <p:nvPr/>
        </p:nvSpPr>
        <p:spPr>
          <a:xfrm>
            <a:off x="952500" y="762000"/>
            <a:ext cx="8000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225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ONLINE LEARNING APPLICATIONS</a:t>
            </a:r>
          </a:p>
        </p:txBody>
      </p:sp>
      <p:sp>
        <p:nvSpPr>
          <p:cNvPr id="12" name="Text 12"/>
          <p:cNvSpPr/>
          <p:nvPr/>
        </p:nvSpPr>
        <p:spPr>
          <a:xfrm>
            <a:off x="10335500" y="762000"/>
            <a:ext cx="700000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kern="0" spc="225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PROJECT PRESENTATION</a:t>
            </a:r>
          </a:p>
        </p:txBody>
      </p:sp>
      <p:sp>
        <p:nvSpPr>
          <p:cNvPr id="30" name="Shape Bar"/>
          <p:cNvSpPr/>
          <p:nvPr/>
        </p:nvSpPr>
        <p:spPr>
          <a:xfrm>
            <a:off x="952500" y="3924300"/>
            <a:ext cx="838200" cy="76200"/>
          </a:xfrm>
          <a:prstGeom prst="rect">
            <a:avLst/>
          </a:prstGeom>
          <a:solidFill>
            <a:srgbClr val="C65D3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3"/>
          <p:cNvSpPr/>
          <p:nvPr/>
        </p:nvSpPr>
        <p:spPr>
          <a:xfrm>
            <a:off x="952500" y="4229100"/>
            <a:ext cx="13500000" cy="1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</a:p>
        </p:txBody>
      </p:sp>
      <p:sp>
        <p:nvSpPr>
          <p:cNvPr id="15" name="Text 15"/>
          <p:cNvSpPr/>
          <p:nvPr/>
        </p:nvSpPr>
        <p:spPr>
          <a:xfrm>
            <a:off x="952500" y="9106971"/>
            <a:ext cx="110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Arbizzani Tonelli Antonio · Arisi Leonardo · Berra Claudia · Di Paolo Gaia</a:t>
            </a:r>
          </a:p>
        </p:txBody>
      </p:sp>
      <p:sp>
        <p:nvSpPr>
          <p:cNvPr id="16" name="Text 16"/>
          <p:cNvSpPr/>
          <p:nvPr/>
        </p:nvSpPr>
        <p:spPr>
          <a:xfrm>
            <a:off x="13335500" y="9106971"/>
            <a:ext cx="4000000" cy="4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400" dirty="0">
                <a:solidFill>
                  <a:srgbClr val="9FB4C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July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2796</Words>
  <Application>Microsoft Office PowerPoint</Application>
  <PresentationFormat>Personalizzato</PresentationFormat>
  <Paragraphs>342</Paragraphs>
  <Slides>25</Slides>
  <Notes>24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1" baseType="lpstr">
      <vt:lpstr>Aptos</vt:lpstr>
      <vt:lpstr>Arial</vt:lpstr>
      <vt:lpstr>Courier New</vt:lpstr>
      <vt:lpstr>IBM Plex Mono</vt:lpstr>
      <vt:lpstr>IBM Plex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Arbizzani</cp:lastModifiedBy>
  <cp:revision>14</cp:revision>
  <dcterms:created xsi:type="dcterms:W3CDTF">2026-07-09T02:57:59Z</dcterms:created>
  <dcterms:modified xsi:type="dcterms:W3CDTF">2026-07-10T11:04:50Z</dcterms:modified>
</cp:coreProperties>
</file>